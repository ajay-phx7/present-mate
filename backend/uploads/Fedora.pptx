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3.svg" ContentType="image/svg+xml"/>
  <Override PartName="/ppt/media/image15.svg" ContentType="image/svg+xml"/>
  <Override PartName="/ppt/media/image17.svg" ContentType="image/svg+xml"/>
  <Override PartName="/ppt/media/image19.svg" ContentType="image/svg+xml"/>
  <Override PartName="/ppt/media/image3.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4" r:id="rId7"/>
    <p:sldId id="261" r:id="rId8"/>
  </p:sldIdLst>
  <p:sldSz cx="18288000" cy="10287000"/>
  <p:notesSz cx="6858000" cy="9144000"/>
  <p:embeddedFontLst>
    <p:embeddedFont>
      <p:font typeface="Canva Sans Bold" panose="020B0803030501040103"/>
      <p:bold r:id="rId12"/>
    </p:embeddedFont>
    <p:embeddedFont>
      <p:font typeface="Canva Sans" panose="020B0503030501040103"/>
      <p:regular r:id="rId13"/>
    </p:embeddedFont>
    <p:embeddedFont>
      <p:font typeface="Calibri" panose="020F050202020403020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B1F9"/>
    <a:srgbClr val="D966F4"/>
    <a:srgbClr val="7151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5" d="100"/>
          <a:sy n="55" d="100"/>
        </p:scale>
        <p:origin x="86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0.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9.sv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png"/><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0.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9.sv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13.sv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976" y="-62586"/>
            <a:ext cx="18312401" cy="10283618"/>
            <a:chOff x="0" y="0"/>
            <a:chExt cx="24416535" cy="13711491"/>
          </a:xfrm>
        </p:grpSpPr>
        <p:sp>
          <p:nvSpPr>
            <p:cNvPr id="3" name="Freeform 3"/>
            <p:cNvSpPr/>
            <p:nvPr/>
          </p:nvSpPr>
          <p:spPr>
            <a:xfrm>
              <a:off x="0" y="0"/>
              <a:ext cx="24416544" cy="13711428"/>
            </a:xfrm>
            <a:custGeom>
              <a:avLst/>
              <a:gdLst/>
              <a:ahLst/>
              <a:cxnLst/>
              <a:rect l="l" t="t" r="r" b="b"/>
              <a:pathLst>
                <a:path w="24416544" h="13711428">
                  <a:moveTo>
                    <a:pt x="0" y="0"/>
                  </a:moveTo>
                  <a:lnTo>
                    <a:pt x="24416544" y="0"/>
                  </a:lnTo>
                  <a:lnTo>
                    <a:pt x="24416544" y="13711428"/>
                  </a:lnTo>
                  <a:lnTo>
                    <a:pt x="0" y="13711428"/>
                  </a:lnTo>
                  <a:lnTo>
                    <a:pt x="0" y="0"/>
                  </a:lnTo>
                  <a:close/>
                </a:path>
              </a:pathLst>
            </a:custGeom>
            <a:blipFill>
              <a:blip r:embed="rId1"/>
              <a:stretch>
                <a:fillRect t="-50" b="-50"/>
              </a:stretch>
            </a:blipFill>
          </p:spPr>
        </p:sp>
      </p:grpSp>
      <p:sp>
        <p:nvSpPr>
          <p:cNvPr id="4" name="TextBox 4"/>
          <p:cNvSpPr txBox="1"/>
          <p:nvPr/>
        </p:nvSpPr>
        <p:spPr>
          <a:xfrm>
            <a:off x="5218662" y="4974448"/>
            <a:ext cx="8396385" cy="895934"/>
          </a:xfrm>
          <a:prstGeom prst="rect">
            <a:avLst/>
          </a:prstGeom>
        </p:spPr>
        <p:txBody>
          <a:bodyPr lIns="0" tIns="0" rIns="0" bIns="0" rtlCol="0" anchor="t">
            <a:spAutoFit/>
          </a:bodyPr>
          <a:lstStyle/>
          <a:p>
            <a:pPr algn="ctr">
              <a:lnSpc>
                <a:spcPts val="7315"/>
              </a:lnSpc>
            </a:pPr>
            <a:r>
              <a:rPr lang="en-US" sz="5225">
                <a:solidFill>
                  <a:srgbClr val="8548CE"/>
                </a:solidFill>
                <a:latin typeface="Monterchi Serif" panose="02000503060000020004"/>
                <a:ea typeface="Monterchi Serif" panose="02000503060000020004"/>
                <a:cs typeface="Monterchi Serif" panose="02000503060000020004"/>
                <a:sym typeface="Monterchi Serif" panose="02000503060000020004"/>
              </a:rPr>
              <a:t>Flowchat</a:t>
            </a:r>
            <a:endParaRPr lang="en-US" sz="5225">
              <a:solidFill>
                <a:srgbClr val="8548CE"/>
              </a:solidFill>
              <a:latin typeface="Monterchi Serif" panose="02000503060000020004"/>
              <a:ea typeface="Monterchi Serif" panose="02000503060000020004"/>
              <a:cs typeface="Monterchi Serif" panose="02000503060000020004"/>
              <a:sym typeface="Monterchi Serif" panose="02000503060000020004"/>
            </a:endParaRPr>
          </a:p>
        </p:txBody>
      </p:sp>
      <p:sp>
        <p:nvSpPr>
          <p:cNvPr id="5" name="TextBox 5"/>
          <p:cNvSpPr txBox="1"/>
          <p:nvPr/>
        </p:nvSpPr>
        <p:spPr>
          <a:xfrm>
            <a:off x="6116081" y="6033280"/>
            <a:ext cx="7354265" cy="636905"/>
          </a:xfrm>
          <a:prstGeom prst="rect">
            <a:avLst/>
          </a:prstGeom>
        </p:spPr>
        <p:txBody>
          <a:bodyPr lIns="0" tIns="0" rIns="0" bIns="0" rtlCol="0" anchor="t">
            <a:spAutoFit/>
          </a:bodyPr>
          <a:lstStyle/>
          <a:p>
            <a:pPr algn="l">
              <a:lnSpc>
                <a:spcPts val="5320"/>
              </a:lnSpc>
            </a:pPr>
            <a:r>
              <a:rPr lang="en-US" sz="3800">
                <a:solidFill>
                  <a:srgbClr val="000000"/>
                </a:solidFill>
                <a:latin typeface="Monterchi Serif" panose="02000503060000020004"/>
                <a:ea typeface="Monterchi Serif" panose="02000503060000020004"/>
                <a:cs typeface="Monterchi Serif" panose="02000503060000020004"/>
                <a:sym typeface="Monterchi Serif" panose="02000503060000020004"/>
              </a:rPr>
              <a:t>BY TEAM FEDORA</a:t>
            </a:r>
            <a:endParaRPr lang="en-US" sz="3800">
              <a:solidFill>
                <a:srgbClr val="000000"/>
              </a:solidFill>
              <a:latin typeface="Monterchi Serif" panose="02000503060000020004"/>
              <a:ea typeface="Monterchi Serif" panose="02000503060000020004"/>
              <a:cs typeface="Monterchi Serif" panose="02000503060000020004"/>
              <a:sym typeface="Monterchi Serif" panose="02000503060000020004"/>
            </a:endParaRPr>
          </a:p>
        </p:txBody>
      </p:sp>
      <p:sp>
        <p:nvSpPr>
          <p:cNvPr id="6" name="Freeform 6"/>
          <p:cNvSpPr/>
          <p:nvPr/>
        </p:nvSpPr>
        <p:spPr>
          <a:xfrm>
            <a:off x="16598336" y="32239"/>
            <a:ext cx="1689664" cy="2079391"/>
          </a:xfrm>
          <a:custGeom>
            <a:avLst/>
            <a:gdLst/>
            <a:ahLst/>
            <a:cxnLst/>
            <a:rect l="l" t="t" r="r" b="b"/>
            <a:pathLst>
              <a:path w="1689664" h="2079391">
                <a:moveTo>
                  <a:pt x="0" y="0"/>
                </a:moveTo>
                <a:lnTo>
                  <a:pt x="1689664" y="0"/>
                </a:lnTo>
                <a:lnTo>
                  <a:pt x="1689664" y="2079391"/>
                </a:lnTo>
                <a:lnTo>
                  <a:pt x="0" y="2079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6622635" y="9486344"/>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22635" y="8685688"/>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5540315" y="7471938"/>
            <a:ext cx="10134600" cy="537844"/>
          </a:xfrm>
          <a:prstGeom prst="rect">
            <a:avLst/>
          </a:prstGeom>
        </p:spPr>
        <p:txBody>
          <a:bodyPr lIns="0" tIns="0" rIns="0" bIns="0" rtlCol="0" anchor="t">
            <a:spAutoFit/>
          </a:bodyPr>
          <a:lstStyle/>
          <a:p>
            <a:pPr algn="l">
              <a:lnSpc>
                <a:spcPts val="4480"/>
              </a:lnSpc>
            </a:pPr>
            <a:r>
              <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rPr>
              <a:t>Yusuf Shereef                yusufshereef69@gmail.com</a:t>
            </a:r>
            <a:endPar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5540315" y="8071644"/>
            <a:ext cx="10301870" cy="537844"/>
          </a:xfrm>
          <a:prstGeom prst="rect">
            <a:avLst/>
          </a:prstGeom>
        </p:spPr>
        <p:txBody>
          <a:bodyPr lIns="0" tIns="0" rIns="0" bIns="0" rtlCol="0" anchor="t">
            <a:spAutoFit/>
          </a:bodyPr>
          <a:lstStyle/>
          <a:p>
            <a:pPr algn="l">
              <a:lnSpc>
                <a:spcPts val="4480"/>
              </a:lnSpc>
            </a:pPr>
            <a:r>
              <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rPr>
              <a:t>Ajay Chakali                   ajayphoenix8849@gmail.com</a:t>
            </a:r>
            <a:endPar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1" name="TextBox 11"/>
          <p:cNvSpPr txBox="1"/>
          <p:nvPr/>
        </p:nvSpPr>
        <p:spPr>
          <a:xfrm>
            <a:off x="5540315" y="8628538"/>
            <a:ext cx="11915281" cy="537844"/>
          </a:xfrm>
          <a:prstGeom prst="rect">
            <a:avLst/>
          </a:prstGeom>
        </p:spPr>
        <p:txBody>
          <a:bodyPr lIns="0" tIns="0" rIns="0" bIns="0" rtlCol="0" anchor="t">
            <a:spAutoFit/>
          </a:bodyPr>
          <a:lstStyle/>
          <a:p>
            <a:pPr algn="l">
              <a:lnSpc>
                <a:spcPts val="4480"/>
              </a:lnSpc>
            </a:pPr>
            <a:r>
              <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rPr>
              <a:t>Kaushik Vinjamur         kaushik.vinjamur2006@gmail.com</a:t>
            </a:r>
            <a:endPar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2" name="TextBox 12"/>
          <p:cNvSpPr txBox="1"/>
          <p:nvPr/>
        </p:nvSpPr>
        <p:spPr>
          <a:xfrm>
            <a:off x="5540315" y="9188847"/>
            <a:ext cx="10134600" cy="537844"/>
          </a:xfrm>
          <a:prstGeom prst="rect">
            <a:avLst/>
          </a:prstGeom>
        </p:spPr>
        <p:txBody>
          <a:bodyPr lIns="0" tIns="0" rIns="0" bIns="0" rtlCol="0" anchor="t">
            <a:spAutoFit/>
          </a:bodyPr>
          <a:lstStyle/>
          <a:p>
            <a:pPr algn="l">
              <a:lnSpc>
                <a:spcPts val="4480"/>
              </a:lnSpc>
            </a:pPr>
            <a:r>
              <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rPr>
              <a:t>K Bhavesh                        kbhavesh2007@gmail.com</a:t>
            </a:r>
            <a:endParaRPr lang="en-US" sz="3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grpSp>
        <p:nvGrpSpPr>
          <p:cNvPr id="3" name="Group 3"/>
          <p:cNvGrpSpPr/>
          <p:nvPr/>
        </p:nvGrpSpPr>
        <p:grpSpPr>
          <a:xfrm>
            <a:off x="0" y="1071386"/>
            <a:ext cx="1046064" cy="1205687"/>
            <a:chOff x="0" y="0"/>
            <a:chExt cx="1394752" cy="1607583"/>
          </a:xfrm>
        </p:grpSpPr>
        <p:sp>
          <p:nvSpPr>
            <p:cNvPr id="4" name="Freeform 4"/>
            <p:cNvSpPr/>
            <p:nvPr/>
          </p:nvSpPr>
          <p:spPr>
            <a:xfrm>
              <a:off x="0" y="0"/>
              <a:ext cx="1394714" cy="1607566"/>
            </a:xfrm>
            <a:custGeom>
              <a:avLst/>
              <a:gdLst/>
              <a:ahLst/>
              <a:cxnLst/>
              <a:rect l="l" t="t" r="r" b="b"/>
              <a:pathLst>
                <a:path w="1394714" h="1607566">
                  <a:moveTo>
                    <a:pt x="1394714" y="1607566"/>
                  </a:moveTo>
                  <a:lnTo>
                    <a:pt x="0" y="1607566"/>
                  </a:lnTo>
                  <a:lnTo>
                    <a:pt x="0" y="0"/>
                  </a:lnTo>
                  <a:lnTo>
                    <a:pt x="1394714" y="1607566"/>
                  </a:lnTo>
                  <a:close/>
                </a:path>
              </a:pathLst>
            </a:custGeom>
            <a:solidFill>
              <a:srgbClr val="D966F4"/>
            </a:solidFill>
          </p:spPr>
        </p:sp>
      </p:grpSp>
      <p:grpSp>
        <p:nvGrpSpPr>
          <p:cNvPr id="5" name="Group 5"/>
          <p:cNvGrpSpPr/>
          <p:nvPr/>
        </p:nvGrpSpPr>
        <p:grpSpPr>
          <a:xfrm>
            <a:off x="-27039" y="0"/>
            <a:ext cx="1073103" cy="1071386"/>
            <a:chOff x="0" y="0"/>
            <a:chExt cx="1430804" cy="1428515"/>
          </a:xfrm>
        </p:grpSpPr>
        <p:sp>
          <p:nvSpPr>
            <p:cNvPr id="6" name="Freeform 6"/>
            <p:cNvSpPr/>
            <p:nvPr/>
          </p:nvSpPr>
          <p:spPr>
            <a:xfrm>
              <a:off x="0" y="0"/>
              <a:ext cx="1430782" cy="1428496"/>
            </a:xfrm>
            <a:custGeom>
              <a:avLst/>
              <a:gdLst/>
              <a:ahLst/>
              <a:cxnLst/>
              <a:rect l="l" t="t" r="r" b="b"/>
              <a:pathLst>
                <a:path w="1430782" h="1428496">
                  <a:moveTo>
                    <a:pt x="1430782" y="1428496"/>
                  </a:moveTo>
                  <a:lnTo>
                    <a:pt x="0" y="1428496"/>
                  </a:lnTo>
                  <a:lnTo>
                    <a:pt x="0" y="0"/>
                  </a:lnTo>
                  <a:lnTo>
                    <a:pt x="1430782" y="1428496"/>
                  </a:lnTo>
                  <a:close/>
                </a:path>
              </a:pathLst>
            </a:custGeom>
            <a:solidFill>
              <a:srgbClr val="B96BE9"/>
            </a:solidFill>
          </p:spPr>
        </p:sp>
      </p:grpSp>
      <p:sp>
        <p:nvSpPr>
          <p:cNvPr id="7" name="Freeform 7"/>
          <p:cNvSpPr/>
          <p:nvPr/>
        </p:nvSpPr>
        <p:spPr>
          <a:xfrm>
            <a:off x="16622635" y="9486344"/>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6622635" y="8685688"/>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6158293" y="282717"/>
            <a:ext cx="5595055" cy="712470"/>
          </a:xfrm>
          <a:prstGeom prst="rect">
            <a:avLst/>
          </a:prstGeom>
        </p:spPr>
        <p:txBody>
          <a:bodyPr lIns="0" tIns="0" rIns="0" bIns="0" rtlCol="0" anchor="t">
            <a:spAutoFit/>
          </a:bodyPr>
          <a:lstStyle/>
          <a:p>
            <a:pPr algn="ctr">
              <a:lnSpc>
                <a:spcPts val="5880"/>
              </a:lnSpc>
            </a:pPr>
            <a:r>
              <a:rPr lang="en-US" sz="4200">
                <a:solidFill>
                  <a:srgbClr val="7C33BA"/>
                </a:solidFill>
                <a:latin typeface="Monterchi Serif" panose="02000503060000020004"/>
                <a:ea typeface="Monterchi Serif" panose="02000503060000020004"/>
                <a:cs typeface="Monterchi Serif" panose="02000503060000020004"/>
                <a:sym typeface="Monterchi Serif" panose="02000503060000020004"/>
              </a:rPr>
              <a:t>IDEA</a:t>
            </a:r>
            <a:endParaRPr lang="en-US" sz="4200">
              <a:solidFill>
                <a:srgbClr val="7C33BA"/>
              </a:solidFill>
              <a:latin typeface="Monterchi Serif" panose="02000503060000020004"/>
              <a:ea typeface="Monterchi Serif" panose="02000503060000020004"/>
              <a:cs typeface="Monterchi Serif" panose="02000503060000020004"/>
              <a:sym typeface="Monterchi Serif" panose="02000503060000020004"/>
            </a:endParaRPr>
          </a:p>
        </p:txBody>
      </p:sp>
      <p:grpSp>
        <p:nvGrpSpPr>
          <p:cNvPr id="10" name="Group 10"/>
          <p:cNvGrpSpPr/>
          <p:nvPr/>
        </p:nvGrpSpPr>
        <p:grpSpPr>
          <a:xfrm>
            <a:off x="16265608" y="0"/>
            <a:ext cx="2022392" cy="1814077"/>
            <a:chOff x="0" y="0"/>
            <a:chExt cx="2696523" cy="2418769"/>
          </a:xfrm>
        </p:grpSpPr>
        <p:sp>
          <p:nvSpPr>
            <p:cNvPr id="11" name="Freeform 11"/>
            <p:cNvSpPr/>
            <p:nvPr/>
          </p:nvSpPr>
          <p:spPr>
            <a:xfrm>
              <a:off x="0" y="0"/>
              <a:ext cx="2696464" cy="2418715"/>
            </a:xfrm>
            <a:custGeom>
              <a:avLst/>
              <a:gdLst/>
              <a:ahLst/>
              <a:cxnLst/>
              <a:rect l="l" t="t" r="r" b="b"/>
              <a:pathLst>
                <a:path w="2696464" h="2418715">
                  <a:moveTo>
                    <a:pt x="0" y="0"/>
                  </a:moveTo>
                  <a:lnTo>
                    <a:pt x="2696464" y="0"/>
                  </a:lnTo>
                  <a:lnTo>
                    <a:pt x="2696464" y="2418715"/>
                  </a:lnTo>
                  <a:lnTo>
                    <a:pt x="0" y="2418715"/>
                  </a:lnTo>
                  <a:lnTo>
                    <a:pt x="0" y="0"/>
                  </a:lnTo>
                  <a:close/>
                </a:path>
              </a:pathLst>
            </a:custGeom>
            <a:blipFill>
              <a:blip r:embed="rId7"/>
              <a:stretch>
                <a:fillRect r="-2" b="-2"/>
              </a:stretch>
            </a:blipFill>
          </p:spPr>
        </p:sp>
      </p:grpSp>
      <p:sp>
        <p:nvSpPr>
          <p:cNvPr id="12" name="Freeform 12"/>
          <p:cNvSpPr/>
          <p:nvPr/>
        </p:nvSpPr>
        <p:spPr>
          <a:xfrm>
            <a:off x="525780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sp>
        <p:nvSpPr>
          <p:cNvPr id="13" name="Freeform 13"/>
          <p:cNvSpPr/>
          <p:nvPr/>
        </p:nvSpPr>
        <p:spPr>
          <a:xfrm>
            <a:off x="1059180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sp>
        <p:nvSpPr>
          <p:cNvPr id="14" name="TextBox 14"/>
          <p:cNvSpPr txBox="1"/>
          <p:nvPr/>
        </p:nvSpPr>
        <p:spPr>
          <a:xfrm>
            <a:off x="1569101" y="1747402"/>
            <a:ext cx="14173471" cy="3245975"/>
          </a:xfrm>
          <a:prstGeom prst="rect">
            <a:avLst/>
          </a:prstGeom>
        </p:spPr>
        <p:txBody>
          <a:bodyPr lIns="0" tIns="0" rIns="0" bIns="0" rtlCol="0" anchor="t">
            <a:spAutoFit/>
          </a:bodyPr>
          <a:lstStyle/>
          <a:p>
            <a:pPr algn="l">
              <a:lnSpc>
                <a:spcPts val="4315"/>
              </a:lnSpc>
            </a:pPr>
            <a:r>
              <a:rPr lang="en-US" sz="3080">
                <a:solidFill>
                  <a:srgbClr val="000000"/>
                </a:solidFill>
                <a:latin typeface="Monterchi Serif" panose="02000503060000020004"/>
                <a:ea typeface="Monterchi Serif" panose="02000503060000020004"/>
                <a:cs typeface="Monterchi Serif" panose="02000503060000020004"/>
                <a:sym typeface="Monterchi Serif" panose="02000503060000020004"/>
              </a:rPr>
              <a:t>In </a:t>
            </a:r>
            <a:r>
              <a:rPr lang="en-US" sz="3080" b="1">
                <a:solidFill>
                  <a:srgbClr val="8725B4"/>
                </a:solidFill>
                <a:latin typeface="Monterchi Serif Bold" panose="02000503060000020004"/>
                <a:ea typeface="Monterchi Serif Bold" panose="02000503060000020004"/>
                <a:cs typeface="Monterchi Serif Bold" panose="02000503060000020004"/>
                <a:sym typeface="Monterchi Serif Bold" panose="02000503060000020004"/>
              </a:rPr>
              <a:t>collaborative group chats</a:t>
            </a:r>
            <a:r>
              <a:rPr lang="en-US" sz="3080">
                <a:solidFill>
                  <a:srgbClr val="000000"/>
                </a:solidFill>
                <a:latin typeface="Monterchi Serif" panose="02000503060000020004"/>
                <a:ea typeface="Monterchi Serif" panose="02000503060000020004"/>
                <a:cs typeface="Monterchi Serif" panose="02000503060000020004"/>
                <a:sym typeface="Monterchi Serif" panose="02000503060000020004"/>
              </a:rPr>
              <a:t>, critical information like key decisions, tasks to be performed, deadlines, and important reminders gets lost. Group members considerably waste large amount of time scrolling through hundreds of messages to find context hence teams are trapped in a cycle of constant interruptions and </a:t>
            </a:r>
            <a:r>
              <a:rPr lang="en-US" sz="308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information retrieval</a:t>
            </a:r>
            <a:r>
              <a:rPr lang="en-US" sz="3080">
                <a:solidFill>
                  <a:srgbClr val="000000"/>
                </a:solidFill>
                <a:latin typeface="Monterchi Serif" panose="02000503060000020004"/>
                <a:ea typeface="Monterchi Serif" panose="02000503060000020004"/>
                <a:cs typeface="Monterchi Serif" panose="02000503060000020004"/>
                <a:sym typeface="Monterchi Serif" panose="02000503060000020004"/>
              </a:rPr>
              <a:t>, thus spending more time managing the conversation than acting on it. The problem here is the </a:t>
            </a:r>
            <a:r>
              <a:rPr lang="en-US" sz="3080" b="1">
                <a:solidFill>
                  <a:srgbClr val="8725B4"/>
                </a:solidFill>
                <a:latin typeface="Monterchi Serif Bold" panose="02000503060000020004"/>
                <a:ea typeface="Monterchi Serif Bold" panose="02000503060000020004"/>
                <a:cs typeface="Monterchi Serif Bold" panose="02000503060000020004"/>
                <a:sym typeface="Monterchi Serif Bold" panose="02000503060000020004"/>
              </a:rPr>
              <a:t>lack of an intelligent layer to organize, and present the outcomes of those chats on demand.</a:t>
            </a:r>
            <a:endParaRPr lang="en-US" sz="3080" b="1">
              <a:solidFill>
                <a:srgbClr val="8725B4"/>
              </a:solidFill>
              <a:latin typeface="Monterchi Serif Bold" panose="02000503060000020004"/>
              <a:ea typeface="Monterchi Serif Bold" panose="02000503060000020004"/>
              <a:cs typeface="Monterchi Serif Bold" panose="02000503060000020004"/>
              <a:sym typeface="Monterchi Serif Bold" panose="02000503060000020004"/>
            </a:endParaRPr>
          </a:p>
        </p:txBody>
      </p:sp>
      <p:sp>
        <p:nvSpPr>
          <p:cNvPr id="15" name="Freeform 15"/>
          <p:cNvSpPr/>
          <p:nvPr/>
        </p:nvSpPr>
        <p:spPr>
          <a:xfrm>
            <a:off x="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sp>
        <p:nvSpPr>
          <p:cNvPr id="16" name="TextBox 16"/>
          <p:cNvSpPr txBox="1"/>
          <p:nvPr/>
        </p:nvSpPr>
        <p:spPr>
          <a:xfrm>
            <a:off x="1569101" y="5769408"/>
            <a:ext cx="15053534" cy="2693811"/>
          </a:xfrm>
          <a:prstGeom prst="rect">
            <a:avLst/>
          </a:prstGeom>
        </p:spPr>
        <p:txBody>
          <a:bodyPr lIns="0" tIns="0" rIns="0" bIns="0" rtlCol="0" anchor="t">
            <a:spAutoFit/>
          </a:bodyPr>
          <a:lstStyle/>
          <a:p>
            <a:pPr algn="l">
              <a:lnSpc>
                <a:spcPts val="4300"/>
              </a:lnSpc>
            </a:pPr>
            <a:r>
              <a:rPr lang="en-US" sz="3070">
                <a:solidFill>
                  <a:srgbClr val="140C16"/>
                </a:solidFill>
                <a:latin typeface="Monterchi Serif" panose="02000503060000020004"/>
                <a:ea typeface="Monterchi Serif" panose="02000503060000020004"/>
                <a:cs typeface="Monterchi Serif" panose="02000503060000020004"/>
                <a:sym typeface="Monterchi Serif" panose="02000503060000020004"/>
              </a:rPr>
              <a:t>Our solution is to build a </a:t>
            </a:r>
            <a:r>
              <a:rPr lang="en-US" sz="3070" b="1">
                <a:solidFill>
                  <a:srgbClr val="8725B4"/>
                </a:solidFill>
                <a:latin typeface="Monterchi Serif Bold" panose="02000503060000020004"/>
                <a:ea typeface="Monterchi Serif Bold" panose="02000503060000020004"/>
                <a:cs typeface="Monterchi Serif Bold" panose="02000503060000020004"/>
                <a:sym typeface="Monterchi Serif Bold" panose="02000503060000020004"/>
              </a:rPr>
              <a:t>real-time collaborative chat system</a:t>
            </a:r>
            <a:r>
              <a:rPr lang="en-US" sz="3070">
                <a:solidFill>
                  <a:srgbClr val="140C16"/>
                </a:solidFill>
                <a:latin typeface="Monterchi Serif" panose="02000503060000020004"/>
                <a:ea typeface="Monterchi Serif" panose="02000503060000020004"/>
                <a:cs typeface="Monterchi Serif" panose="02000503060000020004"/>
                <a:sym typeface="Monterchi Serif" panose="02000503060000020004"/>
              </a:rPr>
              <a:t> with a built-in AI assistant that  continuously processes conversations, and highlights decisions, tasks by transforming cluttered team chats into actionable, summarized info that empowers team to collaborate clearly and stay in sync with the group members striving for maximum productivity. Users will be able to engage with  group chat efficiently and be reminded about neglected tasks, mentions and information,</a:t>
            </a:r>
            <a:endParaRPr lang="en-US" sz="3070">
              <a:solidFill>
                <a:srgbClr val="140C16"/>
              </a:solidFill>
              <a:latin typeface="Monterchi Serif" panose="02000503060000020004"/>
              <a:ea typeface="Monterchi Serif" panose="02000503060000020004"/>
              <a:cs typeface="Monterchi Serif" panose="02000503060000020004"/>
              <a:sym typeface="Monterchi Serif" panose="0200050306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71386"/>
            <a:ext cx="1046064" cy="1205687"/>
            <a:chOff x="0" y="0"/>
            <a:chExt cx="1394752" cy="1607583"/>
          </a:xfrm>
        </p:grpSpPr>
        <p:sp>
          <p:nvSpPr>
            <p:cNvPr id="3" name="Freeform 3"/>
            <p:cNvSpPr/>
            <p:nvPr/>
          </p:nvSpPr>
          <p:spPr>
            <a:xfrm>
              <a:off x="0" y="0"/>
              <a:ext cx="1394714" cy="1607566"/>
            </a:xfrm>
            <a:custGeom>
              <a:avLst/>
              <a:gdLst/>
              <a:ahLst/>
              <a:cxnLst/>
              <a:rect l="l" t="t" r="r" b="b"/>
              <a:pathLst>
                <a:path w="1394714" h="1607566">
                  <a:moveTo>
                    <a:pt x="1394714" y="1607566"/>
                  </a:moveTo>
                  <a:lnTo>
                    <a:pt x="0" y="1607566"/>
                  </a:lnTo>
                  <a:lnTo>
                    <a:pt x="0" y="0"/>
                  </a:lnTo>
                  <a:lnTo>
                    <a:pt x="1394714" y="1607566"/>
                  </a:lnTo>
                  <a:close/>
                </a:path>
              </a:pathLst>
            </a:custGeom>
            <a:solidFill>
              <a:srgbClr val="D966F4"/>
            </a:solidFill>
          </p:spPr>
        </p:sp>
      </p:grpSp>
      <p:grpSp>
        <p:nvGrpSpPr>
          <p:cNvPr id="4" name="Group 4"/>
          <p:cNvGrpSpPr/>
          <p:nvPr/>
        </p:nvGrpSpPr>
        <p:grpSpPr>
          <a:xfrm>
            <a:off x="-27039" y="0"/>
            <a:ext cx="1073103" cy="1071386"/>
            <a:chOff x="0" y="0"/>
            <a:chExt cx="1430804" cy="1428515"/>
          </a:xfrm>
        </p:grpSpPr>
        <p:sp>
          <p:nvSpPr>
            <p:cNvPr id="5" name="Freeform 5"/>
            <p:cNvSpPr/>
            <p:nvPr/>
          </p:nvSpPr>
          <p:spPr>
            <a:xfrm>
              <a:off x="0" y="0"/>
              <a:ext cx="1430782" cy="1428496"/>
            </a:xfrm>
            <a:custGeom>
              <a:avLst/>
              <a:gdLst/>
              <a:ahLst/>
              <a:cxnLst/>
              <a:rect l="l" t="t" r="r" b="b"/>
              <a:pathLst>
                <a:path w="1430782" h="1428496">
                  <a:moveTo>
                    <a:pt x="1430782" y="1428496"/>
                  </a:moveTo>
                  <a:lnTo>
                    <a:pt x="0" y="1428496"/>
                  </a:lnTo>
                  <a:lnTo>
                    <a:pt x="0" y="0"/>
                  </a:lnTo>
                  <a:lnTo>
                    <a:pt x="1430782" y="1428496"/>
                  </a:lnTo>
                  <a:close/>
                </a:path>
              </a:pathLst>
            </a:custGeom>
            <a:solidFill>
              <a:srgbClr val="B96BE9"/>
            </a:solidFill>
          </p:spPr>
        </p:sp>
      </p:grpSp>
      <p:sp>
        <p:nvSpPr>
          <p:cNvPr id="6" name="Freeform 6"/>
          <p:cNvSpPr/>
          <p:nvPr/>
        </p:nvSpPr>
        <p:spPr>
          <a:xfrm>
            <a:off x="16622635" y="9486344"/>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16622635" y="8685688"/>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6265608" y="0"/>
            <a:ext cx="2022392" cy="1814077"/>
            <a:chOff x="0" y="0"/>
            <a:chExt cx="2696523" cy="2418769"/>
          </a:xfrm>
        </p:grpSpPr>
        <p:sp>
          <p:nvSpPr>
            <p:cNvPr id="9" name="Freeform 9"/>
            <p:cNvSpPr/>
            <p:nvPr/>
          </p:nvSpPr>
          <p:spPr>
            <a:xfrm>
              <a:off x="0" y="0"/>
              <a:ext cx="2696464" cy="2418715"/>
            </a:xfrm>
            <a:custGeom>
              <a:avLst/>
              <a:gdLst/>
              <a:ahLst/>
              <a:cxnLst/>
              <a:rect l="l" t="t" r="r" b="b"/>
              <a:pathLst>
                <a:path w="2696464" h="2418715">
                  <a:moveTo>
                    <a:pt x="0" y="0"/>
                  </a:moveTo>
                  <a:lnTo>
                    <a:pt x="2696464" y="0"/>
                  </a:lnTo>
                  <a:lnTo>
                    <a:pt x="2696464" y="2418715"/>
                  </a:lnTo>
                  <a:lnTo>
                    <a:pt x="0" y="2418715"/>
                  </a:lnTo>
                  <a:lnTo>
                    <a:pt x="0" y="0"/>
                  </a:lnTo>
                  <a:close/>
                </a:path>
              </a:pathLst>
            </a:custGeom>
            <a:blipFill>
              <a:blip r:embed="rId5"/>
              <a:stretch>
                <a:fillRect r="-2" b="-2"/>
              </a:stretch>
            </a:blipFill>
          </p:spPr>
        </p:sp>
      </p:grpSp>
      <p:sp>
        <p:nvSpPr>
          <p:cNvPr id="10" name="Freeform 10"/>
          <p:cNvSpPr/>
          <p:nvPr/>
        </p:nvSpPr>
        <p:spPr>
          <a:xfrm>
            <a:off x="5334877" y="97917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6">
              <a:extLst>
                <a:ext uri="{96DAC541-7B7A-43D3-8B79-37D633B846F1}">
                  <asvg:svgBlip xmlns:asvg="http://schemas.microsoft.com/office/drawing/2016/SVG/main" r:embed="rId7"/>
                </a:ext>
              </a:extLst>
            </a:blip>
            <a:stretch>
              <a:fillRect t="-198339" b="-198339"/>
            </a:stretch>
          </a:blipFill>
        </p:spPr>
      </p:sp>
      <p:sp>
        <p:nvSpPr>
          <p:cNvPr id="11" name="Freeform 11"/>
          <p:cNvSpPr/>
          <p:nvPr/>
        </p:nvSpPr>
        <p:spPr>
          <a:xfrm>
            <a:off x="10730897" y="97917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6">
              <a:extLst>
                <a:ext uri="{96DAC541-7B7A-43D3-8B79-37D633B846F1}">
                  <asvg:svgBlip xmlns:asvg="http://schemas.microsoft.com/office/drawing/2016/SVG/main" r:embed="rId7"/>
                </a:ext>
              </a:extLst>
            </a:blip>
            <a:stretch>
              <a:fillRect t="-198339" b="-198339"/>
            </a:stretch>
          </a:blipFill>
        </p:spPr>
      </p:sp>
      <p:graphicFrame>
        <p:nvGraphicFramePr>
          <p:cNvPr id="12" name="Table 12"/>
          <p:cNvGraphicFramePr>
            <a:graphicFrameLocks noGrp="1"/>
          </p:cNvGraphicFramePr>
          <p:nvPr/>
        </p:nvGraphicFramePr>
        <p:xfrm>
          <a:off x="1099031" y="1281770"/>
          <a:ext cx="7547219" cy="7976529"/>
        </p:xfrm>
        <a:graphic>
          <a:graphicData uri="http://schemas.openxmlformats.org/drawingml/2006/table">
            <a:tbl>
              <a:tblPr/>
              <a:tblGrid>
                <a:gridCol w="3396061"/>
                <a:gridCol w="4151158"/>
              </a:tblGrid>
              <a:tr h="1971567">
                <a:tc>
                  <a:txBody>
                    <a:bodyPr/>
                    <a:lstStyle/>
                    <a:p>
                      <a:pPr algn="ctr">
                        <a:lnSpc>
                          <a:spcPts val="5180"/>
                        </a:lnSpc>
                        <a:defRPr/>
                      </a:pPr>
                      <a:r>
                        <a:rPr lang="en-US" sz="3700" b="1">
                          <a:solidFill>
                            <a:srgbClr val="140C16"/>
                          </a:solidFill>
                          <a:latin typeface="Monterchi Serif Bold" panose="02000503060000020004"/>
                          <a:ea typeface="Monterchi Serif Bold" panose="02000503060000020004"/>
                          <a:cs typeface="Monterchi Serif Bold" panose="02000503060000020004"/>
                          <a:sym typeface="Monterchi Serif Bold" panose="02000503060000020004"/>
                        </a:rPr>
                        <a:t>Frontend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140C16"/>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80"/>
                        </a:lnSpc>
                        <a:defRPr/>
                      </a:pPr>
                      <a:r>
                        <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HTML/ JS</a:t>
                      </a:r>
                      <a:endParaRPr lang="en-US" sz="1100"/>
                    </a:p>
                    <a:p>
                      <a:pPr algn="ctr">
                        <a:lnSpc>
                          <a:spcPts val="3780"/>
                        </a:lnSpc>
                      </a:pPr>
                      <a:r>
                        <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Tailwind CSS</a:t>
                      </a:r>
                      <a:endPar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endParaRPr>
                    </a:p>
                    <a:p>
                      <a:pPr algn="ctr">
                        <a:lnSpc>
                          <a:spcPts val="3780"/>
                        </a:lnSpc>
                      </a:pPr>
                      <a:r>
                        <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js(axios)</a:t>
                      </a:r>
                      <a:endPar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endParaRPr>
                    </a:p>
                  </a:txBody>
                  <a:tcPr marL="190500" marR="190500" marT="190500" marB="190500" anchor="ctr">
                    <a:lnL w="38100" cap="flat" cmpd="sng" algn="ctr">
                      <a:solidFill>
                        <a:srgbClr val="140C16"/>
                      </a:solidFill>
                      <a:prstDash val="solid"/>
                      <a:round/>
                      <a:headEnd type="none" w="med" len="med"/>
                      <a:tailEnd type="none" w="med" len="med"/>
                    </a:lnL>
                    <a:lnR w="38100" cap="flat" cmpd="sng" algn="ctr">
                      <a:solidFill>
                        <a:srgbClr val="140C16"/>
                      </a:solidFill>
                      <a:prstDash val="solid"/>
                      <a:round/>
                      <a:headEnd type="none" w="med" len="med"/>
                      <a:tailEnd type="none" w="med" len="med"/>
                    </a:lnR>
                    <a:lnT w="38100" cap="flat" cmpd="sng" algn="ctr">
                      <a:solidFill>
                        <a:srgbClr val="140C16"/>
                      </a:solidFill>
                      <a:prstDash val="solid"/>
                      <a:round/>
                      <a:headEnd type="none" w="med" len="med"/>
                      <a:tailEnd type="none" w="med" len="med"/>
                    </a:lnT>
                    <a:lnB w="38100" cap="flat" cmpd="sng" algn="ctr">
                      <a:solidFill>
                        <a:srgbClr val="140C16"/>
                      </a:solidFill>
                      <a:prstDash val="solid"/>
                      <a:round/>
                      <a:headEnd type="none" w="med" len="med"/>
                      <a:tailEnd type="none" w="med" len="med"/>
                    </a:lnB>
                  </a:tcPr>
                </a:tc>
              </a:tr>
              <a:tr h="1199327">
                <a:tc>
                  <a:txBody>
                    <a:bodyPr/>
                    <a:lstStyle/>
                    <a:p>
                      <a:pPr algn="ctr">
                        <a:lnSpc>
                          <a:spcPts val="4900"/>
                        </a:lnSpc>
                        <a:defRPr/>
                      </a:pPr>
                      <a:r>
                        <a:rPr lang="en-US" sz="3500" b="1">
                          <a:solidFill>
                            <a:srgbClr val="140C16"/>
                          </a:solidFill>
                          <a:latin typeface="Monterchi Serif Bold" panose="02000503060000020004"/>
                          <a:ea typeface="Monterchi Serif Bold" panose="02000503060000020004"/>
                          <a:cs typeface="Monterchi Serif Bold" panose="02000503060000020004"/>
                          <a:sym typeface="Monterchi Serif Bold" panose="02000503060000020004"/>
                        </a:rPr>
                        <a:t>Server Client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140C16"/>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JS(Stomp.js)</a:t>
                      </a:r>
                      <a:endParaRPr lang="en-US" sz="1100"/>
                    </a:p>
                  </a:txBody>
                  <a:tcPr marL="190500" marR="190500" marT="190500" marB="190500" anchor="ctr">
                    <a:lnL w="38100" cap="flat" cmpd="sng" algn="ctr">
                      <a:solidFill>
                        <a:srgbClr val="140C16"/>
                      </a:solidFill>
                      <a:prstDash val="solid"/>
                      <a:round/>
                      <a:headEnd type="none" w="med" len="med"/>
                      <a:tailEnd type="none" w="med" len="med"/>
                    </a:lnL>
                    <a:lnR w="38100" cap="flat" cmpd="sng" algn="ctr">
                      <a:solidFill>
                        <a:srgbClr val="140C16"/>
                      </a:solidFill>
                      <a:prstDash val="solid"/>
                      <a:round/>
                      <a:headEnd type="none" w="med" len="med"/>
                      <a:tailEnd type="none" w="med" len="med"/>
                    </a:lnR>
                    <a:lnT w="38100" cap="flat" cmpd="sng" algn="ctr">
                      <a:solidFill>
                        <a:srgbClr val="140C16"/>
                      </a:solidFill>
                      <a:prstDash val="solid"/>
                      <a:round/>
                      <a:headEnd type="none" w="med" len="med"/>
                      <a:tailEnd type="none" w="med" len="med"/>
                    </a:lnT>
                    <a:lnB w="38100" cap="flat" cmpd="sng" algn="ctr">
                      <a:solidFill>
                        <a:srgbClr val="140C16"/>
                      </a:solidFill>
                      <a:prstDash val="solid"/>
                      <a:round/>
                      <a:headEnd type="none" w="med" len="med"/>
                      <a:tailEnd type="none" w="med" len="med"/>
                    </a:lnB>
                  </a:tcPr>
                </a:tc>
              </a:tr>
              <a:tr h="2325328">
                <a:tc>
                  <a:txBody>
                    <a:bodyPr/>
                    <a:lstStyle/>
                    <a:p>
                      <a:pPr algn="ctr">
                        <a:lnSpc>
                          <a:spcPts val="5040"/>
                        </a:lnSpc>
                        <a:defRPr/>
                      </a:pPr>
                      <a:r>
                        <a:rPr lang="en-US" sz="3600" b="1">
                          <a:solidFill>
                            <a:srgbClr val="140C16"/>
                          </a:solidFill>
                          <a:latin typeface="Monterchi Serif Bold" panose="02000503060000020004"/>
                          <a:ea typeface="Monterchi Serif Bold" panose="02000503060000020004"/>
                          <a:cs typeface="Monterchi Serif Bold" panose="02000503060000020004"/>
                          <a:sym typeface="Monterchi Serif Bold" panose="02000503060000020004"/>
                        </a:rPr>
                        <a:t>Backend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Spring boot,</a:t>
                      </a:r>
                      <a:endParaRPr lang="en-US" sz="1100"/>
                    </a:p>
                    <a:p>
                      <a:pPr algn="ctr">
                        <a:lnSpc>
                          <a:spcPts val="4200"/>
                        </a:lnSpc>
                      </a:pPr>
                      <a:r>
                        <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Spring WebSocket ,</a:t>
                      </a:r>
                      <a:endPar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endParaRPr>
                    </a:p>
                    <a:p>
                      <a:pPr algn="ctr">
                        <a:lnSpc>
                          <a:spcPts val="4200"/>
                        </a:lnSpc>
                      </a:pPr>
                      <a:r>
                        <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Spring Data JPA</a:t>
                      </a:r>
                      <a:endParaRPr lang="en-US" sz="30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140C16"/>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283968">
                <a:tc>
                  <a:txBody>
                    <a:bodyPr/>
                    <a:lstStyle/>
                    <a:p>
                      <a:pPr algn="ctr">
                        <a:lnSpc>
                          <a:spcPts val="5040"/>
                        </a:lnSpc>
                        <a:defRPr/>
                      </a:pPr>
                      <a:r>
                        <a:rPr lang="en-US" sz="3600" b="1">
                          <a:solidFill>
                            <a:srgbClr val="140C16"/>
                          </a:solidFill>
                          <a:latin typeface="Monterchi Serif Bold" panose="02000503060000020004"/>
                          <a:ea typeface="Monterchi Serif Bold" panose="02000503060000020004"/>
                          <a:cs typeface="Monterchi Serif Bold" panose="02000503060000020004"/>
                          <a:sym typeface="Monterchi Serif Bold" panose="02000503060000020004"/>
                        </a:rPr>
                        <a:t>Database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040"/>
                        </a:lnSpc>
                        <a:defRPr/>
                      </a:pPr>
                      <a:r>
                        <a:rPr lang="en-US" sz="36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Postgres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196339">
                <a:tc>
                  <a:txBody>
                    <a:bodyPr/>
                    <a:lstStyle/>
                    <a:p>
                      <a:pPr algn="ctr">
                        <a:lnSpc>
                          <a:spcPts val="4900"/>
                        </a:lnSpc>
                        <a:defRPr/>
                      </a:pPr>
                      <a:r>
                        <a:rPr lang="en-US" sz="3500" b="1">
                          <a:solidFill>
                            <a:srgbClr val="140C16"/>
                          </a:solidFill>
                          <a:latin typeface="Monterchi Serif Bold" panose="02000503060000020004"/>
                          <a:ea typeface="Monterchi Serif Bold" panose="02000503060000020004"/>
                          <a:cs typeface="Monterchi Serif Bold" panose="02000503060000020004"/>
                          <a:sym typeface="Monterchi Serif Bold" panose="02000503060000020004"/>
                        </a:rPr>
                        <a:t>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80"/>
                        </a:lnSpc>
                        <a:defRPr/>
                      </a:pPr>
                      <a:r>
                        <a:rPr lang="en-US" sz="2700" b="1">
                          <a:solidFill>
                            <a:srgbClr val="470084"/>
                          </a:solidFill>
                          <a:latin typeface="Monterchi Serif Bold" panose="02000503060000020004"/>
                          <a:ea typeface="Monterchi Serif Bold" panose="02000503060000020004"/>
                          <a:cs typeface="Monterchi Serif Bold" panose="02000503060000020004"/>
                          <a:sym typeface="Monterchi Serif Bold" panose="02000503060000020004"/>
                        </a:rPr>
                        <a:t>External API(Gemini API)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grpSp>
        <p:nvGrpSpPr>
          <p:cNvPr id="13" name="Group 13"/>
          <p:cNvGrpSpPr/>
          <p:nvPr/>
        </p:nvGrpSpPr>
        <p:grpSpPr>
          <a:xfrm>
            <a:off x="8836012" y="6043690"/>
            <a:ext cx="2577218" cy="1522384"/>
            <a:chOff x="0" y="0"/>
            <a:chExt cx="819761" cy="484240"/>
          </a:xfrm>
        </p:grpSpPr>
        <p:sp>
          <p:nvSpPr>
            <p:cNvPr id="14" name="Freeform 14"/>
            <p:cNvSpPr/>
            <p:nvPr/>
          </p:nvSpPr>
          <p:spPr>
            <a:xfrm>
              <a:off x="0" y="0"/>
              <a:ext cx="819761" cy="484240"/>
            </a:xfrm>
            <a:custGeom>
              <a:avLst/>
              <a:gdLst/>
              <a:ahLst/>
              <a:cxnLst/>
              <a:rect l="l" t="t" r="r" b="b"/>
              <a:pathLst>
                <a:path w="819761" h="484240">
                  <a:moveTo>
                    <a:pt x="194790" y="0"/>
                  </a:moveTo>
                  <a:lnTo>
                    <a:pt x="624971" y="0"/>
                  </a:lnTo>
                  <a:cubicBezTo>
                    <a:pt x="676633" y="0"/>
                    <a:pt x="726178" y="20522"/>
                    <a:pt x="762708" y="57053"/>
                  </a:cubicBezTo>
                  <a:cubicBezTo>
                    <a:pt x="799239" y="93583"/>
                    <a:pt x="819761" y="143128"/>
                    <a:pt x="819761" y="194790"/>
                  </a:cubicBezTo>
                  <a:lnTo>
                    <a:pt x="819761" y="289450"/>
                  </a:lnTo>
                  <a:cubicBezTo>
                    <a:pt x="819761" y="341112"/>
                    <a:pt x="799239" y="390657"/>
                    <a:pt x="762708" y="427187"/>
                  </a:cubicBezTo>
                  <a:cubicBezTo>
                    <a:pt x="726178" y="463717"/>
                    <a:pt x="676633" y="484240"/>
                    <a:pt x="624971" y="484240"/>
                  </a:cubicBezTo>
                  <a:lnTo>
                    <a:pt x="194790" y="484240"/>
                  </a:lnTo>
                  <a:cubicBezTo>
                    <a:pt x="143128" y="484240"/>
                    <a:pt x="93583" y="463717"/>
                    <a:pt x="57053" y="427187"/>
                  </a:cubicBezTo>
                  <a:cubicBezTo>
                    <a:pt x="20522" y="390657"/>
                    <a:pt x="0" y="341112"/>
                    <a:pt x="0" y="289450"/>
                  </a:cubicBezTo>
                  <a:lnTo>
                    <a:pt x="0" y="194790"/>
                  </a:lnTo>
                  <a:cubicBezTo>
                    <a:pt x="0" y="143128"/>
                    <a:pt x="20522" y="93583"/>
                    <a:pt x="57053" y="57053"/>
                  </a:cubicBezTo>
                  <a:cubicBezTo>
                    <a:pt x="93583" y="20522"/>
                    <a:pt x="143128" y="0"/>
                    <a:pt x="194790" y="0"/>
                  </a:cubicBezTo>
                  <a:close/>
                </a:path>
              </a:pathLst>
            </a:custGeom>
            <a:solidFill>
              <a:srgbClr val="FEFEFE"/>
            </a:solidFill>
            <a:ln w="38100" cap="rnd">
              <a:solidFill>
                <a:srgbClr val="000000"/>
              </a:solidFill>
              <a:prstDash val="solid"/>
              <a:round/>
            </a:ln>
          </p:spPr>
        </p:sp>
        <p:sp>
          <p:nvSpPr>
            <p:cNvPr id="15" name="TextBox 15"/>
            <p:cNvSpPr txBox="1"/>
            <p:nvPr/>
          </p:nvSpPr>
          <p:spPr>
            <a:xfrm>
              <a:off x="0" y="-38100"/>
              <a:ext cx="819761" cy="522340"/>
            </a:xfrm>
            <a:prstGeom prst="rect">
              <a:avLst/>
            </a:prstGeom>
          </p:spPr>
          <p:txBody>
            <a:bodyPr lIns="50800" tIns="50800" rIns="50800" bIns="50800" rtlCol="0" anchor="ctr"/>
            <a:lstStyle/>
            <a:p>
              <a:pPr algn="ctr">
                <a:lnSpc>
                  <a:spcPts val="2660"/>
                </a:lnSpc>
                <a:spcBef>
                  <a:spcPct val="0"/>
                </a:spcBef>
              </a:pPr>
            </a:p>
          </p:txBody>
        </p:sp>
      </p:grpSp>
      <p:grpSp>
        <p:nvGrpSpPr>
          <p:cNvPr id="16" name="Group 16"/>
          <p:cNvGrpSpPr/>
          <p:nvPr/>
        </p:nvGrpSpPr>
        <p:grpSpPr>
          <a:xfrm>
            <a:off x="9066448" y="4377800"/>
            <a:ext cx="2171558" cy="898982"/>
            <a:chOff x="0" y="0"/>
            <a:chExt cx="677830" cy="280608"/>
          </a:xfrm>
        </p:grpSpPr>
        <p:sp>
          <p:nvSpPr>
            <p:cNvPr id="17" name="Freeform 17"/>
            <p:cNvSpPr/>
            <p:nvPr/>
          </p:nvSpPr>
          <p:spPr>
            <a:xfrm>
              <a:off x="0" y="0"/>
              <a:ext cx="677830" cy="280608"/>
            </a:xfrm>
            <a:custGeom>
              <a:avLst/>
              <a:gdLst/>
              <a:ahLst/>
              <a:cxnLst/>
              <a:rect l="l" t="t" r="r" b="b"/>
              <a:pathLst>
                <a:path w="677830" h="280608">
                  <a:moveTo>
                    <a:pt x="140304" y="0"/>
                  </a:moveTo>
                  <a:lnTo>
                    <a:pt x="537526" y="0"/>
                  </a:lnTo>
                  <a:cubicBezTo>
                    <a:pt x="574737" y="0"/>
                    <a:pt x="610424" y="14782"/>
                    <a:pt x="636736" y="41094"/>
                  </a:cubicBezTo>
                  <a:cubicBezTo>
                    <a:pt x="663048" y="67406"/>
                    <a:pt x="677830" y="103093"/>
                    <a:pt x="677830" y="140304"/>
                  </a:cubicBezTo>
                  <a:lnTo>
                    <a:pt x="677830" y="140304"/>
                  </a:lnTo>
                  <a:cubicBezTo>
                    <a:pt x="677830" y="217792"/>
                    <a:pt x="615014" y="280608"/>
                    <a:pt x="537526" y="280608"/>
                  </a:cubicBezTo>
                  <a:lnTo>
                    <a:pt x="140304" y="280608"/>
                  </a:lnTo>
                  <a:cubicBezTo>
                    <a:pt x="62816" y="280608"/>
                    <a:pt x="0" y="217792"/>
                    <a:pt x="0" y="140304"/>
                  </a:cubicBezTo>
                  <a:lnTo>
                    <a:pt x="0" y="140304"/>
                  </a:lnTo>
                  <a:cubicBezTo>
                    <a:pt x="0" y="62816"/>
                    <a:pt x="62816" y="0"/>
                    <a:pt x="140304" y="0"/>
                  </a:cubicBezTo>
                  <a:close/>
                </a:path>
              </a:pathLst>
            </a:custGeom>
            <a:solidFill>
              <a:srgbClr val="FEFEFE"/>
            </a:solidFill>
            <a:ln w="38100" cap="rnd">
              <a:solidFill>
                <a:srgbClr val="000000"/>
              </a:solidFill>
              <a:prstDash val="solid"/>
              <a:round/>
            </a:ln>
          </p:spPr>
        </p:sp>
        <p:sp>
          <p:nvSpPr>
            <p:cNvPr id="18" name="TextBox 18"/>
            <p:cNvSpPr txBox="1"/>
            <p:nvPr/>
          </p:nvSpPr>
          <p:spPr>
            <a:xfrm>
              <a:off x="0" y="-38100"/>
              <a:ext cx="677830" cy="318708"/>
            </a:xfrm>
            <a:prstGeom prst="rect">
              <a:avLst/>
            </a:prstGeom>
          </p:spPr>
          <p:txBody>
            <a:bodyPr lIns="50800" tIns="50800" rIns="50800" bIns="50800" rtlCol="0" anchor="ctr"/>
            <a:lstStyle/>
            <a:p>
              <a:pPr algn="ctr">
                <a:lnSpc>
                  <a:spcPts val="2660"/>
                </a:lnSpc>
                <a:spcBef>
                  <a:spcPct val="0"/>
                </a:spcBef>
              </a:pPr>
            </a:p>
          </p:txBody>
        </p:sp>
      </p:grpSp>
      <p:sp>
        <p:nvSpPr>
          <p:cNvPr id="19" name="Freeform 19"/>
          <p:cNvSpPr/>
          <p:nvPr/>
        </p:nvSpPr>
        <p:spPr>
          <a:xfrm>
            <a:off x="12872021" y="7505741"/>
            <a:ext cx="1534953" cy="2285959"/>
          </a:xfrm>
          <a:custGeom>
            <a:avLst/>
            <a:gdLst/>
            <a:ahLst/>
            <a:cxnLst/>
            <a:rect l="l" t="t" r="r" b="b"/>
            <a:pathLst>
              <a:path w="1534953" h="2285959">
                <a:moveTo>
                  <a:pt x="0" y="0"/>
                </a:moveTo>
                <a:lnTo>
                  <a:pt x="1534952" y="0"/>
                </a:lnTo>
                <a:lnTo>
                  <a:pt x="1534952" y="2285959"/>
                </a:lnTo>
                <a:lnTo>
                  <a:pt x="0" y="2285959"/>
                </a:lnTo>
                <a:lnTo>
                  <a:pt x="0" y="0"/>
                </a:lnTo>
                <a:close/>
              </a:path>
            </a:pathLst>
          </a:custGeom>
          <a:blipFill>
            <a:blip r:embed="rId8"/>
            <a:stretch>
              <a:fillRect/>
            </a:stretch>
          </a:blipFill>
          <a:ln cap="sq">
            <a:noFill/>
            <a:prstDash val="solid"/>
            <a:miter/>
          </a:ln>
        </p:spPr>
      </p:sp>
      <p:grpSp>
        <p:nvGrpSpPr>
          <p:cNvPr id="20" name="Group 20"/>
          <p:cNvGrpSpPr/>
          <p:nvPr/>
        </p:nvGrpSpPr>
        <p:grpSpPr>
          <a:xfrm>
            <a:off x="12108186" y="4021402"/>
            <a:ext cx="2888932" cy="2783480"/>
            <a:chOff x="0" y="0"/>
            <a:chExt cx="760871" cy="733098"/>
          </a:xfrm>
        </p:grpSpPr>
        <p:sp>
          <p:nvSpPr>
            <p:cNvPr id="21" name="Freeform 21"/>
            <p:cNvSpPr/>
            <p:nvPr/>
          </p:nvSpPr>
          <p:spPr>
            <a:xfrm>
              <a:off x="0" y="0"/>
              <a:ext cx="760871" cy="733098"/>
            </a:xfrm>
            <a:custGeom>
              <a:avLst/>
              <a:gdLst/>
              <a:ahLst/>
              <a:cxnLst/>
              <a:rect l="l" t="t" r="r" b="b"/>
              <a:pathLst>
                <a:path w="760871" h="733098">
                  <a:moveTo>
                    <a:pt x="0" y="0"/>
                  </a:moveTo>
                  <a:lnTo>
                    <a:pt x="760871" y="0"/>
                  </a:lnTo>
                  <a:lnTo>
                    <a:pt x="760871" y="733098"/>
                  </a:lnTo>
                  <a:lnTo>
                    <a:pt x="0" y="733098"/>
                  </a:lnTo>
                  <a:close/>
                </a:path>
              </a:pathLst>
            </a:custGeom>
            <a:solidFill>
              <a:srgbClr val="FEFEFE"/>
            </a:solidFill>
            <a:ln w="38100" cap="sq">
              <a:solidFill>
                <a:srgbClr val="000000"/>
              </a:solidFill>
              <a:prstDash val="solid"/>
              <a:miter/>
            </a:ln>
          </p:spPr>
        </p:sp>
        <p:sp>
          <p:nvSpPr>
            <p:cNvPr id="22" name="TextBox 22"/>
            <p:cNvSpPr txBox="1"/>
            <p:nvPr/>
          </p:nvSpPr>
          <p:spPr>
            <a:xfrm>
              <a:off x="0" y="-38100"/>
              <a:ext cx="760871" cy="771198"/>
            </a:xfrm>
            <a:prstGeom prst="rect">
              <a:avLst/>
            </a:prstGeom>
          </p:spPr>
          <p:txBody>
            <a:bodyPr lIns="50800" tIns="50800" rIns="50800" bIns="50800" rtlCol="0" anchor="ctr"/>
            <a:lstStyle/>
            <a:p>
              <a:pPr algn="ctr">
                <a:lnSpc>
                  <a:spcPts val="2660"/>
                </a:lnSpc>
              </a:pPr>
            </a:p>
          </p:txBody>
        </p:sp>
      </p:grpSp>
      <p:grpSp>
        <p:nvGrpSpPr>
          <p:cNvPr id="23" name="Group 23"/>
          <p:cNvGrpSpPr/>
          <p:nvPr/>
        </p:nvGrpSpPr>
        <p:grpSpPr>
          <a:xfrm>
            <a:off x="9103449" y="2884528"/>
            <a:ext cx="2171558" cy="898982"/>
            <a:chOff x="0" y="0"/>
            <a:chExt cx="677830" cy="280608"/>
          </a:xfrm>
        </p:grpSpPr>
        <p:sp>
          <p:nvSpPr>
            <p:cNvPr id="24" name="Freeform 24"/>
            <p:cNvSpPr/>
            <p:nvPr/>
          </p:nvSpPr>
          <p:spPr>
            <a:xfrm>
              <a:off x="0" y="0"/>
              <a:ext cx="677830" cy="280608"/>
            </a:xfrm>
            <a:custGeom>
              <a:avLst/>
              <a:gdLst/>
              <a:ahLst/>
              <a:cxnLst/>
              <a:rect l="l" t="t" r="r" b="b"/>
              <a:pathLst>
                <a:path w="677830" h="280608">
                  <a:moveTo>
                    <a:pt x="140304" y="0"/>
                  </a:moveTo>
                  <a:lnTo>
                    <a:pt x="537526" y="0"/>
                  </a:lnTo>
                  <a:cubicBezTo>
                    <a:pt x="574737" y="0"/>
                    <a:pt x="610424" y="14782"/>
                    <a:pt x="636736" y="41094"/>
                  </a:cubicBezTo>
                  <a:cubicBezTo>
                    <a:pt x="663048" y="67406"/>
                    <a:pt x="677830" y="103093"/>
                    <a:pt x="677830" y="140304"/>
                  </a:cubicBezTo>
                  <a:lnTo>
                    <a:pt x="677830" y="140304"/>
                  </a:lnTo>
                  <a:cubicBezTo>
                    <a:pt x="677830" y="217792"/>
                    <a:pt x="615014" y="280608"/>
                    <a:pt x="537526" y="280608"/>
                  </a:cubicBezTo>
                  <a:lnTo>
                    <a:pt x="140304" y="280608"/>
                  </a:lnTo>
                  <a:cubicBezTo>
                    <a:pt x="62816" y="280608"/>
                    <a:pt x="0" y="217792"/>
                    <a:pt x="0" y="140304"/>
                  </a:cubicBezTo>
                  <a:lnTo>
                    <a:pt x="0" y="140304"/>
                  </a:lnTo>
                  <a:cubicBezTo>
                    <a:pt x="0" y="62816"/>
                    <a:pt x="62816" y="0"/>
                    <a:pt x="140304" y="0"/>
                  </a:cubicBezTo>
                  <a:close/>
                </a:path>
              </a:pathLst>
            </a:custGeom>
            <a:solidFill>
              <a:srgbClr val="FEFEFE"/>
            </a:solidFill>
            <a:ln w="38100" cap="rnd">
              <a:solidFill>
                <a:srgbClr val="000000"/>
              </a:solidFill>
              <a:prstDash val="solid"/>
              <a:round/>
            </a:ln>
          </p:spPr>
        </p:sp>
        <p:sp>
          <p:nvSpPr>
            <p:cNvPr id="25" name="TextBox 25"/>
            <p:cNvSpPr txBox="1"/>
            <p:nvPr/>
          </p:nvSpPr>
          <p:spPr>
            <a:xfrm>
              <a:off x="0" y="-38100"/>
              <a:ext cx="677830" cy="318708"/>
            </a:xfrm>
            <a:prstGeom prst="rect">
              <a:avLst/>
            </a:prstGeom>
          </p:spPr>
          <p:txBody>
            <a:bodyPr lIns="50800" tIns="50800" rIns="50800" bIns="50800" rtlCol="0" anchor="ctr"/>
            <a:lstStyle/>
            <a:p>
              <a:pPr algn="ctr">
                <a:lnSpc>
                  <a:spcPts val="2660"/>
                </a:lnSpc>
                <a:spcBef>
                  <a:spcPct val="0"/>
                </a:spcBef>
              </a:pPr>
            </a:p>
          </p:txBody>
        </p:sp>
      </p:grpSp>
      <p:grpSp>
        <p:nvGrpSpPr>
          <p:cNvPr id="26" name="Group 26"/>
          <p:cNvGrpSpPr/>
          <p:nvPr/>
        </p:nvGrpSpPr>
        <p:grpSpPr>
          <a:xfrm>
            <a:off x="12244946" y="4285602"/>
            <a:ext cx="2609131" cy="989804"/>
            <a:chOff x="0" y="0"/>
            <a:chExt cx="729126" cy="276602"/>
          </a:xfrm>
        </p:grpSpPr>
        <p:sp>
          <p:nvSpPr>
            <p:cNvPr id="27" name="Freeform 27"/>
            <p:cNvSpPr/>
            <p:nvPr/>
          </p:nvSpPr>
          <p:spPr>
            <a:xfrm>
              <a:off x="0" y="0"/>
              <a:ext cx="729126" cy="276602"/>
            </a:xfrm>
            <a:custGeom>
              <a:avLst/>
              <a:gdLst/>
              <a:ahLst/>
              <a:cxnLst/>
              <a:rect l="l" t="t" r="r" b="b"/>
              <a:pathLst>
                <a:path w="729126" h="276602">
                  <a:moveTo>
                    <a:pt x="55636" y="0"/>
                  </a:moveTo>
                  <a:lnTo>
                    <a:pt x="514318" y="0"/>
                  </a:lnTo>
                  <a:cubicBezTo>
                    <a:pt x="634194" y="0"/>
                    <a:pt x="729126" y="61920"/>
                    <a:pt x="729126" y="138301"/>
                  </a:cubicBezTo>
                  <a:cubicBezTo>
                    <a:pt x="729126" y="214683"/>
                    <a:pt x="634194" y="276602"/>
                    <a:pt x="514318" y="276602"/>
                  </a:cubicBezTo>
                  <a:lnTo>
                    <a:pt x="55636" y="276602"/>
                  </a:lnTo>
                  <a:cubicBezTo>
                    <a:pt x="24909" y="276602"/>
                    <a:pt x="0" y="251693"/>
                    <a:pt x="0" y="220967"/>
                  </a:cubicBezTo>
                  <a:lnTo>
                    <a:pt x="0" y="55636"/>
                  </a:lnTo>
                  <a:cubicBezTo>
                    <a:pt x="0" y="40880"/>
                    <a:pt x="5862" y="26729"/>
                    <a:pt x="16295" y="16295"/>
                  </a:cubicBezTo>
                  <a:cubicBezTo>
                    <a:pt x="26729" y="5862"/>
                    <a:pt x="40880" y="0"/>
                    <a:pt x="55636" y="0"/>
                  </a:cubicBezTo>
                  <a:close/>
                </a:path>
              </a:pathLst>
            </a:custGeom>
            <a:solidFill>
              <a:srgbClr val="FEFEFE"/>
            </a:solidFill>
            <a:ln w="38100" cap="rnd">
              <a:solidFill>
                <a:srgbClr val="000000"/>
              </a:solidFill>
              <a:prstDash val="solid"/>
              <a:round/>
            </a:ln>
          </p:spPr>
        </p:sp>
        <p:sp>
          <p:nvSpPr>
            <p:cNvPr id="28" name="TextBox 28"/>
            <p:cNvSpPr txBox="1"/>
            <p:nvPr/>
          </p:nvSpPr>
          <p:spPr>
            <a:xfrm>
              <a:off x="25400" y="-38100"/>
              <a:ext cx="500526" cy="314702"/>
            </a:xfrm>
            <a:prstGeom prst="rect">
              <a:avLst/>
            </a:prstGeom>
          </p:spPr>
          <p:txBody>
            <a:bodyPr lIns="50800" tIns="50800" rIns="50800" bIns="50800" rtlCol="0" anchor="ctr"/>
            <a:lstStyle/>
            <a:p>
              <a:pPr algn="ctr">
                <a:lnSpc>
                  <a:spcPts val="2660"/>
                </a:lnSpc>
              </a:pPr>
            </a:p>
          </p:txBody>
        </p:sp>
      </p:grpSp>
      <p:grpSp>
        <p:nvGrpSpPr>
          <p:cNvPr id="29" name="Group 29"/>
          <p:cNvGrpSpPr/>
          <p:nvPr/>
        </p:nvGrpSpPr>
        <p:grpSpPr>
          <a:xfrm>
            <a:off x="12248087" y="5639337"/>
            <a:ext cx="2609131" cy="989804"/>
            <a:chOff x="0" y="0"/>
            <a:chExt cx="729126" cy="276602"/>
          </a:xfrm>
        </p:grpSpPr>
        <p:sp>
          <p:nvSpPr>
            <p:cNvPr id="30" name="Freeform 30"/>
            <p:cNvSpPr/>
            <p:nvPr/>
          </p:nvSpPr>
          <p:spPr>
            <a:xfrm>
              <a:off x="0" y="0"/>
              <a:ext cx="729126" cy="276602"/>
            </a:xfrm>
            <a:custGeom>
              <a:avLst/>
              <a:gdLst/>
              <a:ahLst/>
              <a:cxnLst/>
              <a:rect l="l" t="t" r="r" b="b"/>
              <a:pathLst>
                <a:path w="729126" h="276602">
                  <a:moveTo>
                    <a:pt x="55636" y="0"/>
                  </a:moveTo>
                  <a:lnTo>
                    <a:pt x="514318" y="0"/>
                  </a:lnTo>
                  <a:cubicBezTo>
                    <a:pt x="634194" y="0"/>
                    <a:pt x="729126" y="61920"/>
                    <a:pt x="729126" y="138301"/>
                  </a:cubicBezTo>
                  <a:cubicBezTo>
                    <a:pt x="729126" y="214683"/>
                    <a:pt x="634194" y="276602"/>
                    <a:pt x="514318" y="276602"/>
                  </a:cubicBezTo>
                  <a:lnTo>
                    <a:pt x="55636" y="276602"/>
                  </a:lnTo>
                  <a:cubicBezTo>
                    <a:pt x="24909" y="276602"/>
                    <a:pt x="0" y="251693"/>
                    <a:pt x="0" y="220967"/>
                  </a:cubicBezTo>
                  <a:lnTo>
                    <a:pt x="0" y="55636"/>
                  </a:lnTo>
                  <a:cubicBezTo>
                    <a:pt x="0" y="40880"/>
                    <a:pt x="5862" y="26729"/>
                    <a:pt x="16295" y="16295"/>
                  </a:cubicBezTo>
                  <a:cubicBezTo>
                    <a:pt x="26729" y="5862"/>
                    <a:pt x="40880" y="0"/>
                    <a:pt x="55636" y="0"/>
                  </a:cubicBezTo>
                  <a:close/>
                </a:path>
              </a:pathLst>
            </a:custGeom>
            <a:solidFill>
              <a:srgbClr val="FEFEFE"/>
            </a:solidFill>
            <a:ln w="38100" cap="rnd">
              <a:solidFill>
                <a:srgbClr val="000000"/>
              </a:solidFill>
              <a:prstDash val="solid"/>
              <a:round/>
            </a:ln>
          </p:spPr>
        </p:sp>
        <p:sp>
          <p:nvSpPr>
            <p:cNvPr id="31" name="TextBox 31"/>
            <p:cNvSpPr txBox="1"/>
            <p:nvPr/>
          </p:nvSpPr>
          <p:spPr>
            <a:xfrm>
              <a:off x="25400" y="-38100"/>
              <a:ext cx="500526" cy="314702"/>
            </a:xfrm>
            <a:prstGeom prst="rect">
              <a:avLst/>
            </a:prstGeom>
          </p:spPr>
          <p:txBody>
            <a:bodyPr lIns="50800" tIns="50800" rIns="50800" bIns="50800" rtlCol="0" anchor="ctr"/>
            <a:lstStyle/>
            <a:p>
              <a:pPr algn="ctr">
                <a:lnSpc>
                  <a:spcPts val="2660"/>
                </a:lnSpc>
              </a:pPr>
            </a:p>
          </p:txBody>
        </p:sp>
      </p:grpSp>
      <p:grpSp>
        <p:nvGrpSpPr>
          <p:cNvPr id="32" name="Group 32"/>
          <p:cNvGrpSpPr/>
          <p:nvPr/>
        </p:nvGrpSpPr>
        <p:grpSpPr>
          <a:xfrm>
            <a:off x="15825793" y="4734591"/>
            <a:ext cx="2001037" cy="2070292"/>
            <a:chOff x="0" y="-38100"/>
            <a:chExt cx="822436" cy="850900"/>
          </a:xfrm>
        </p:grpSpPr>
        <p:sp>
          <p:nvSpPr>
            <p:cNvPr id="33" name="Freeform 33"/>
            <p:cNvSpPr/>
            <p:nvPr/>
          </p:nvSpPr>
          <p:spPr>
            <a:xfrm>
              <a:off x="9636" y="0"/>
              <a:ext cx="812800" cy="812800"/>
            </a:xfrm>
            <a:custGeom>
              <a:avLst/>
              <a:gdLst/>
              <a:ahLst/>
              <a:cxnLst/>
              <a:rect l="l" t="t" r="r" b="b"/>
              <a:pathLst>
                <a:path w="812800" h="812800">
                  <a:moveTo>
                    <a:pt x="812800" y="215315"/>
                  </a:moveTo>
                  <a:lnTo>
                    <a:pt x="812800" y="597485"/>
                  </a:lnTo>
                  <a:cubicBezTo>
                    <a:pt x="812800" y="716400"/>
                    <a:pt x="716400" y="812800"/>
                    <a:pt x="597485" y="812800"/>
                  </a:cubicBezTo>
                  <a:lnTo>
                    <a:pt x="215315" y="812800"/>
                  </a:lnTo>
                  <a:cubicBezTo>
                    <a:pt x="96400" y="812800"/>
                    <a:pt x="0" y="716400"/>
                    <a:pt x="0" y="597485"/>
                  </a:cubicBezTo>
                  <a:lnTo>
                    <a:pt x="0" y="215315"/>
                  </a:lnTo>
                  <a:cubicBezTo>
                    <a:pt x="0" y="96400"/>
                    <a:pt x="96400" y="0"/>
                    <a:pt x="215315" y="0"/>
                  </a:cubicBezTo>
                  <a:lnTo>
                    <a:pt x="597485" y="0"/>
                  </a:lnTo>
                  <a:cubicBezTo>
                    <a:pt x="716400" y="0"/>
                    <a:pt x="812800" y="96400"/>
                    <a:pt x="812800" y="215315"/>
                  </a:cubicBezTo>
                  <a:close/>
                </a:path>
              </a:pathLst>
            </a:custGeom>
            <a:solidFill>
              <a:srgbClr val="FEFEFE"/>
            </a:solidFill>
            <a:ln w="38100" cap="rnd">
              <a:solidFill>
                <a:srgbClr val="000000"/>
              </a:solidFill>
              <a:prstDash val="solid"/>
              <a:round/>
            </a:ln>
          </p:spPr>
        </p:sp>
        <p:sp>
          <p:nvSpPr>
            <p:cNvPr id="34" name="TextBox 34"/>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35" name="AutoShape 35"/>
          <p:cNvSpPr/>
          <p:nvPr/>
        </p:nvSpPr>
        <p:spPr>
          <a:xfrm flipV="1">
            <a:off x="11156250" y="5767556"/>
            <a:ext cx="1704108" cy="1607577"/>
          </a:xfrm>
          <a:prstGeom prst="line">
            <a:avLst/>
          </a:prstGeom>
          <a:ln w="38100" cap="flat">
            <a:solidFill>
              <a:srgbClr val="000000"/>
            </a:solidFill>
            <a:prstDash val="solid"/>
            <a:headEnd type="oval" w="lg" len="lg"/>
            <a:tailEnd type="triangle" w="lg" len="med"/>
          </a:ln>
        </p:spPr>
      </p:sp>
      <p:sp>
        <p:nvSpPr>
          <p:cNvPr id="36" name="AutoShape 36"/>
          <p:cNvSpPr/>
          <p:nvPr/>
        </p:nvSpPr>
        <p:spPr>
          <a:xfrm>
            <a:off x="11156249" y="3601436"/>
            <a:ext cx="1445772" cy="1073784"/>
          </a:xfrm>
          <a:prstGeom prst="line">
            <a:avLst/>
          </a:prstGeom>
          <a:ln w="38100" cap="flat">
            <a:solidFill>
              <a:srgbClr val="000000"/>
            </a:solidFill>
            <a:prstDash val="solid"/>
            <a:headEnd type="oval" w="lg" len="lg"/>
            <a:tailEnd type="triangle" w="lg" len="med"/>
          </a:ln>
        </p:spPr>
      </p:sp>
      <p:sp>
        <p:nvSpPr>
          <p:cNvPr id="37" name="AutoShape 37"/>
          <p:cNvSpPr/>
          <p:nvPr/>
        </p:nvSpPr>
        <p:spPr>
          <a:xfrm>
            <a:off x="14406973" y="6134239"/>
            <a:ext cx="1858635" cy="0"/>
          </a:xfrm>
          <a:prstGeom prst="line">
            <a:avLst/>
          </a:prstGeom>
          <a:ln w="38100" cap="flat">
            <a:solidFill>
              <a:srgbClr val="000000"/>
            </a:solidFill>
            <a:prstDash val="solid"/>
            <a:headEnd type="none" w="sm" len="sm"/>
            <a:tailEnd type="triangle" w="lg" len="med"/>
          </a:ln>
        </p:spPr>
      </p:sp>
      <p:sp>
        <p:nvSpPr>
          <p:cNvPr id="38" name="AutoShape 38"/>
          <p:cNvSpPr/>
          <p:nvPr/>
        </p:nvSpPr>
        <p:spPr>
          <a:xfrm>
            <a:off x="14406973" y="6153289"/>
            <a:ext cx="1858635" cy="0"/>
          </a:xfrm>
          <a:prstGeom prst="line">
            <a:avLst/>
          </a:prstGeom>
          <a:ln w="38100" cap="flat">
            <a:solidFill>
              <a:srgbClr val="000000"/>
            </a:solidFill>
            <a:prstDash val="solid"/>
            <a:headEnd type="triangle" w="lg" len="med"/>
            <a:tailEnd type="none" w="sm" len="sm"/>
          </a:ln>
        </p:spPr>
      </p:sp>
      <p:grpSp>
        <p:nvGrpSpPr>
          <p:cNvPr id="39" name="Group 39"/>
          <p:cNvGrpSpPr/>
          <p:nvPr/>
        </p:nvGrpSpPr>
        <p:grpSpPr>
          <a:xfrm>
            <a:off x="13639497" y="6837380"/>
            <a:ext cx="726097" cy="938927"/>
            <a:chOff x="0" y="0"/>
            <a:chExt cx="576505" cy="745487"/>
          </a:xfrm>
        </p:grpSpPr>
        <p:sp>
          <p:nvSpPr>
            <p:cNvPr id="40" name="Freeform 40"/>
            <p:cNvSpPr/>
            <p:nvPr/>
          </p:nvSpPr>
          <p:spPr>
            <a:xfrm>
              <a:off x="0" y="0"/>
              <a:ext cx="576505" cy="745487"/>
            </a:xfrm>
            <a:custGeom>
              <a:avLst/>
              <a:gdLst/>
              <a:ahLst/>
              <a:cxnLst/>
              <a:rect l="l" t="t" r="r" b="b"/>
              <a:pathLst>
                <a:path w="576505" h="745487">
                  <a:moveTo>
                    <a:pt x="288252" y="0"/>
                  </a:moveTo>
                  <a:lnTo>
                    <a:pt x="0" y="406400"/>
                  </a:lnTo>
                  <a:lnTo>
                    <a:pt x="203200" y="406400"/>
                  </a:lnTo>
                  <a:lnTo>
                    <a:pt x="203200" y="745487"/>
                  </a:lnTo>
                  <a:lnTo>
                    <a:pt x="373305" y="745487"/>
                  </a:lnTo>
                  <a:lnTo>
                    <a:pt x="373305" y="406400"/>
                  </a:lnTo>
                  <a:lnTo>
                    <a:pt x="576505" y="406400"/>
                  </a:lnTo>
                  <a:lnTo>
                    <a:pt x="288252" y="0"/>
                  </a:lnTo>
                  <a:close/>
                </a:path>
              </a:pathLst>
            </a:custGeom>
            <a:solidFill>
              <a:srgbClr val="FEFEFE"/>
            </a:solidFill>
            <a:ln w="38100" cap="sq">
              <a:solidFill>
                <a:srgbClr val="000000"/>
              </a:solidFill>
              <a:prstDash val="solid"/>
              <a:miter/>
            </a:ln>
          </p:spPr>
        </p:sp>
        <p:sp>
          <p:nvSpPr>
            <p:cNvPr id="41" name="TextBox 41"/>
            <p:cNvSpPr txBox="1"/>
            <p:nvPr/>
          </p:nvSpPr>
          <p:spPr>
            <a:xfrm>
              <a:off x="203200" y="63500"/>
              <a:ext cx="170105" cy="681987"/>
            </a:xfrm>
            <a:prstGeom prst="rect">
              <a:avLst/>
            </a:prstGeom>
          </p:spPr>
          <p:txBody>
            <a:bodyPr lIns="50800" tIns="50800" rIns="50800" bIns="50800" rtlCol="0" anchor="ctr"/>
            <a:lstStyle/>
            <a:p>
              <a:pPr algn="ctr">
                <a:lnSpc>
                  <a:spcPts val="2660"/>
                </a:lnSpc>
              </a:pPr>
            </a:p>
          </p:txBody>
        </p:sp>
      </p:grpSp>
      <p:sp>
        <p:nvSpPr>
          <p:cNvPr id="42" name="TextBox 42"/>
          <p:cNvSpPr txBox="1"/>
          <p:nvPr/>
        </p:nvSpPr>
        <p:spPr>
          <a:xfrm>
            <a:off x="5334877" y="316230"/>
            <a:ext cx="7537143" cy="712470"/>
          </a:xfrm>
          <a:prstGeom prst="rect">
            <a:avLst/>
          </a:prstGeom>
        </p:spPr>
        <p:txBody>
          <a:bodyPr lIns="0" tIns="0" rIns="0" bIns="0" rtlCol="0" anchor="t">
            <a:spAutoFit/>
          </a:bodyPr>
          <a:lstStyle/>
          <a:p>
            <a:pPr algn="ctr">
              <a:lnSpc>
                <a:spcPts val="5880"/>
              </a:lnSpc>
            </a:pPr>
            <a:r>
              <a:rPr lang="en-US" sz="4200">
                <a:solidFill>
                  <a:srgbClr val="7C33BA"/>
                </a:solidFill>
                <a:latin typeface="Monterchi Serif" panose="02000503060000020004"/>
                <a:ea typeface="Monterchi Serif" panose="02000503060000020004"/>
                <a:cs typeface="Monterchi Serif" panose="02000503060000020004"/>
                <a:sym typeface="Monterchi Serif" panose="02000503060000020004"/>
              </a:rPr>
              <a:t>TECH STACK &amp; ARCHITECTURE</a:t>
            </a:r>
            <a:endParaRPr lang="en-US" sz="4200">
              <a:solidFill>
                <a:srgbClr val="7C33BA"/>
              </a:solidFill>
              <a:latin typeface="Monterchi Serif" panose="02000503060000020004"/>
              <a:ea typeface="Monterchi Serif" panose="02000503060000020004"/>
              <a:cs typeface="Monterchi Serif" panose="02000503060000020004"/>
              <a:sym typeface="Monterchi Serif" panose="02000503060000020004"/>
            </a:endParaRPr>
          </a:p>
        </p:txBody>
      </p:sp>
      <p:grpSp>
        <p:nvGrpSpPr>
          <p:cNvPr id="43" name="Group 43"/>
          <p:cNvGrpSpPr/>
          <p:nvPr/>
        </p:nvGrpSpPr>
        <p:grpSpPr>
          <a:xfrm rot="10722030">
            <a:off x="12823414" y="6837380"/>
            <a:ext cx="726097" cy="938927"/>
            <a:chOff x="0" y="0"/>
            <a:chExt cx="576505" cy="745487"/>
          </a:xfrm>
        </p:grpSpPr>
        <p:sp>
          <p:nvSpPr>
            <p:cNvPr id="44" name="Freeform 44"/>
            <p:cNvSpPr/>
            <p:nvPr/>
          </p:nvSpPr>
          <p:spPr>
            <a:xfrm>
              <a:off x="0" y="0"/>
              <a:ext cx="576505" cy="745487"/>
            </a:xfrm>
            <a:custGeom>
              <a:avLst/>
              <a:gdLst/>
              <a:ahLst/>
              <a:cxnLst/>
              <a:rect l="l" t="t" r="r" b="b"/>
              <a:pathLst>
                <a:path w="576505" h="745487">
                  <a:moveTo>
                    <a:pt x="288252" y="0"/>
                  </a:moveTo>
                  <a:lnTo>
                    <a:pt x="0" y="406400"/>
                  </a:lnTo>
                  <a:lnTo>
                    <a:pt x="203200" y="406400"/>
                  </a:lnTo>
                  <a:lnTo>
                    <a:pt x="203200" y="745487"/>
                  </a:lnTo>
                  <a:lnTo>
                    <a:pt x="373305" y="745487"/>
                  </a:lnTo>
                  <a:lnTo>
                    <a:pt x="373305" y="406400"/>
                  </a:lnTo>
                  <a:lnTo>
                    <a:pt x="576505" y="406400"/>
                  </a:lnTo>
                  <a:lnTo>
                    <a:pt x="288252" y="0"/>
                  </a:lnTo>
                  <a:close/>
                </a:path>
              </a:pathLst>
            </a:custGeom>
            <a:solidFill>
              <a:srgbClr val="FEFEFE"/>
            </a:solidFill>
            <a:ln w="38100" cap="sq">
              <a:solidFill>
                <a:srgbClr val="000000"/>
              </a:solidFill>
              <a:prstDash val="solid"/>
              <a:miter/>
            </a:ln>
          </p:spPr>
        </p:sp>
        <p:sp>
          <p:nvSpPr>
            <p:cNvPr id="45" name="TextBox 45"/>
            <p:cNvSpPr txBox="1"/>
            <p:nvPr/>
          </p:nvSpPr>
          <p:spPr>
            <a:xfrm>
              <a:off x="203200" y="63500"/>
              <a:ext cx="170105" cy="681987"/>
            </a:xfrm>
            <a:prstGeom prst="rect">
              <a:avLst/>
            </a:prstGeom>
          </p:spPr>
          <p:txBody>
            <a:bodyPr lIns="50800" tIns="50800" rIns="50800" bIns="50800" rtlCol="0" anchor="ctr"/>
            <a:lstStyle/>
            <a:p>
              <a:pPr algn="ctr">
                <a:lnSpc>
                  <a:spcPts val="2660"/>
                </a:lnSpc>
              </a:pPr>
            </a:p>
          </p:txBody>
        </p:sp>
      </p:grpSp>
      <p:sp>
        <p:nvSpPr>
          <p:cNvPr id="46" name="TextBox 46"/>
          <p:cNvSpPr txBox="1"/>
          <p:nvPr/>
        </p:nvSpPr>
        <p:spPr>
          <a:xfrm>
            <a:off x="8836012" y="3066341"/>
            <a:ext cx="2549052" cy="537844"/>
          </a:xfrm>
          <a:prstGeom prst="rect">
            <a:avLst/>
          </a:prstGeom>
        </p:spPr>
        <p:txBody>
          <a:bodyPr lIns="0" tIns="0" rIns="0" bIns="0" rtlCol="0" anchor="t">
            <a:spAutoFit/>
          </a:bodyPr>
          <a:lstStyle/>
          <a:p>
            <a:pPr algn="ctr">
              <a:lnSpc>
                <a:spcPts val="4480"/>
              </a:lnSpc>
            </a:pPr>
            <a:r>
              <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rPr>
              <a:t>Client 1</a:t>
            </a:r>
            <a:endPar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7" name="TextBox 47"/>
          <p:cNvSpPr txBox="1"/>
          <p:nvPr/>
        </p:nvSpPr>
        <p:spPr>
          <a:xfrm>
            <a:off x="8836012" y="6077089"/>
            <a:ext cx="2549052" cy="537844"/>
          </a:xfrm>
          <a:prstGeom prst="rect">
            <a:avLst/>
          </a:prstGeom>
        </p:spPr>
        <p:txBody>
          <a:bodyPr lIns="0" tIns="0" rIns="0" bIns="0" rtlCol="0" anchor="t">
            <a:spAutoFit/>
          </a:bodyPr>
          <a:lstStyle/>
          <a:p>
            <a:pPr algn="ctr">
              <a:lnSpc>
                <a:spcPts val="4480"/>
              </a:lnSpc>
            </a:pPr>
            <a:r>
              <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rPr>
              <a:t>Client 3</a:t>
            </a:r>
            <a:endPar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8" name="TextBox 48"/>
          <p:cNvSpPr txBox="1"/>
          <p:nvPr/>
        </p:nvSpPr>
        <p:spPr>
          <a:xfrm>
            <a:off x="8864178" y="4427237"/>
            <a:ext cx="2549052" cy="537844"/>
          </a:xfrm>
          <a:prstGeom prst="rect">
            <a:avLst/>
          </a:prstGeom>
        </p:spPr>
        <p:txBody>
          <a:bodyPr lIns="0" tIns="0" rIns="0" bIns="0" rtlCol="0" anchor="t">
            <a:spAutoFit/>
          </a:bodyPr>
          <a:lstStyle/>
          <a:p>
            <a:pPr algn="ctr">
              <a:lnSpc>
                <a:spcPts val="4480"/>
              </a:lnSpc>
            </a:pPr>
            <a:r>
              <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rPr>
              <a:t>Client 2</a:t>
            </a:r>
            <a:endParaRPr lang="en-US" sz="3200" b="1">
              <a:solidFill>
                <a:srgbClr val="7C33BA"/>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9" name="TextBox 49"/>
          <p:cNvSpPr txBox="1"/>
          <p:nvPr/>
        </p:nvSpPr>
        <p:spPr>
          <a:xfrm>
            <a:off x="9192212" y="6747732"/>
            <a:ext cx="1964037" cy="464821"/>
          </a:xfrm>
          <a:prstGeom prst="rect">
            <a:avLst/>
          </a:prstGeom>
        </p:spPr>
        <p:txBody>
          <a:bodyPr wrap="square" lIns="0" tIns="0" rIns="0" bIns="0" rtlCol="0" anchor="t">
            <a:spAutoFit/>
          </a:bodyPr>
          <a:lstStyle/>
          <a:p>
            <a:pPr algn="ctr">
              <a:lnSpc>
                <a:spcPts val="3780"/>
              </a:lnSpc>
              <a:spcBef>
                <a:spcPct val="0"/>
              </a:spcBef>
            </a:pPr>
            <a:r>
              <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rPr>
              <a:t>Summarize</a:t>
            </a:r>
            <a:endPar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0" name="TextBox 50"/>
          <p:cNvSpPr txBox="1"/>
          <p:nvPr/>
        </p:nvSpPr>
        <p:spPr>
          <a:xfrm>
            <a:off x="12616601" y="4618070"/>
            <a:ext cx="2205293" cy="448311"/>
          </a:xfrm>
          <a:prstGeom prst="rect">
            <a:avLst/>
          </a:prstGeom>
        </p:spPr>
        <p:txBody>
          <a:bodyPr wrap="square" lIns="0" tIns="0" rIns="0" bIns="0" rtlCol="0" anchor="t">
            <a:spAutoFit/>
          </a:bodyPr>
          <a:lstStyle/>
          <a:p>
            <a:pPr algn="ctr">
              <a:lnSpc>
                <a:spcPts val="3640"/>
              </a:lnSpc>
              <a:spcBef>
                <a:spcPct val="0"/>
              </a:spcBef>
            </a:pPr>
            <a:r>
              <a:rPr lang="en-US" sz="2600" b="1" dirty="0">
                <a:solidFill>
                  <a:srgbClr val="470084"/>
                </a:solidFill>
                <a:latin typeface="Canva Sans Bold" panose="020B0803030501040103"/>
                <a:ea typeface="Canva Sans Bold" panose="020B0803030501040103"/>
                <a:cs typeface="Canva Sans Bold" panose="020B0803030501040103"/>
                <a:sym typeface="Canva Sans Bold" panose="020B0803030501040103"/>
              </a:rPr>
              <a:t>WEBSOCKET</a:t>
            </a:r>
            <a:endParaRPr lang="en-US" sz="2600" b="1" dirty="0">
              <a:solidFill>
                <a:srgbClr val="470084"/>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1" name="TextBox 51"/>
          <p:cNvSpPr txBox="1"/>
          <p:nvPr/>
        </p:nvSpPr>
        <p:spPr>
          <a:xfrm>
            <a:off x="12969900" y="5838011"/>
            <a:ext cx="1139767" cy="563881"/>
          </a:xfrm>
          <a:prstGeom prst="rect">
            <a:avLst/>
          </a:prstGeom>
        </p:spPr>
        <p:txBody>
          <a:bodyPr wrap="square" lIns="0" tIns="0" rIns="0" bIns="0" rtlCol="0" anchor="t">
            <a:spAutoFit/>
          </a:bodyPr>
          <a:lstStyle/>
          <a:p>
            <a:pPr algn="ctr">
              <a:lnSpc>
                <a:spcPts val="4620"/>
              </a:lnSpc>
              <a:spcBef>
                <a:spcPct val="0"/>
              </a:spcBef>
            </a:pPr>
            <a:r>
              <a:rPr lang="en-US" sz="3300" dirty="0">
                <a:solidFill>
                  <a:srgbClr val="470084"/>
                </a:solidFill>
                <a:latin typeface="Canva Sans" panose="020B0503030501040103"/>
                <a:ea typeface="Canva Sans" panose="020B0503030501040103"/>
                <a:cs typeface="Canva Sans" panose="020B0503030501040103"/>
                <a:sym typeface="Canva Sans" panose="020B0503030501040103"/>
              </a:rPr>
              <a:t>REST</a:t>
            </a:r>
            <a:endParaRPr lang="en-US" sz="3300" dirty="0">
              <a:solidFill>
                <a:srgbClr val="470084"/>
              </a:solidFill>
              <a:latin typeface="Canva Sans" panose="020B0503030501040103"/>
              <a:ea typeface="Canva Sans" panose="020B0503030501040103"/>
              <a:cs typeface="Canva Sans" panose="020B0503030501040103"/>
              <a:sym typeface="Canva Sans" panose="020B0503030501040103"/>
            </a:endParaRPr>
          </a:p>
        </p:txBody>
      </p:sp>
      <p:sp>
        <p:nvSpPr>
          <p:cNvPr id="52" name="TextBox 52"/>
          <p:cNvSpPr txBox="1"/>
          <p:nvPr/>
        </p:nvSpPr>
        <p:spPr>
          <a:xfrm>
            <a:off x="16177456" y="5212885"/>
            <a:ext cx="1424744" cy="1417321"/>
          </a:xfrm>
          <a:prstGeom prst="rect">
            <a:avLst/>
          </a:prstGeom>
        </p:spPr>
        <p:txBody>
          <a:bodyPr wrap="square" lIns="0" tIns="0" rIns="0" bIns="0" rtlCol="0" anchor="t">
            <a:spAutoFit/>
          </a:bodyPr>
          <a:lstStyle/>
          <a:p>
            <a:pPr algn="ctr">
              <a:lnSpc>
                <a:spcPts val="3780"/>
              </a:lnSpc>
            </a:pPr>
            <a:r>
              <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rPr>
              <a:t>GEMINI</a:t>
            </a:r>
            <a:endPar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780"/>
              </a:lnSpc>
            </a:pPr>
            <a:r>
              <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rPr>
              <a:t>API</a:t>
            </a:r>
            <a:endPar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780"/>
              </a:lnSpc>
              <a:spcBef>
                <a:spcPct val="0"/>
              </a:spcBef>
            </a:pPr>
            <a:r>
              <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rPr>
              <a:t>(LLM)</a:t>
            </a:r>
            <a:endParaRPr lang="en-US" sz="2700" b="1" dirty="0">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3" name="TextBox 53"/>
          <p:cNvSpPr txBox="1"/>
          <p:nvPr/>
        </p:nvSpPr>
        <p:spPr>
          <a:xfrm>
            <a:off x="9850940" y="1824713"/>
            <a:ext cx="7537143" cy="755015"/>
          </a:xfrm>
          <a:prstGeom prst="rect">
            <a:avLst/>
          </a:prstGeom>
        </p:spPr>
        <p:txBody>
          <a:bodyPr lIns="0" tIns="0" rIns="0" bIns="0" rtlCol="0" anchor="t">
            <a:spAutoFit/>
          </a:bodyPr>
          <a:lstStyle/>
          <a:p>
            <a:pPr algn="ctr">
              <a:lnSpc>
                <a:spcPts val="6160"/>
              </a:lnSpc>
            </a:pPr>
            <a:r>
              <a:rPr lang="en-US" sz="44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BACKEND</a:t>
            </a:r>
            <a:endParaRPr lang="en-US" sz="44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endParaRPr>
          </a:p>
        </p:txBody>
      </p:sp>
      <p:sp>
        <p:nvSpPr>
          <p:cNvPr id="54" name="TextBox 54"/>
          <p:cNvSpPr txBox="1"/>
          <p:nvPr/>
        </p:nvSpPr>
        <p:spPr>
          <a:xfrm>
            <a:off x="9850940" y="2955989"/>
            <a:ext cx="7537143" cy="1073784"/>
          </a:xfrm>
          <a:prstGeom prst="rect">
            <a:avLst/>
          </a:prstGeom>
        </p:spPr>
        <p:txBody>
          <a:bodyPr lIns="0" tIns="0" rIns="0" bIns="0" rtlCol="0" anchor="t">
            <a:spAutoFit/>
          </a:bodyPr>
          <a:lstStyle/>
          <a:p>
            <a:pPr algn="ctr">
              <a:lnSpc>
                <a:spcPts val="4480"/>
              </a:lnSpc>
            </a:pPr>
            <a:r>
              <a:rPr lang="en-US" sz="32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SPRING</a:t>
            </a:r>
            <a:endParaRPr lang="en-US" sz="32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endParaRPr>
          </a:p>
          <a:p>
            <a:pPr algn="ctr">
              <a:lnSpc>
                <a:spcPts val="4200"/>
              </a:lnSpc>
            </a:pPr>
            <a:r>
              <a:rPr lang="en-US" sz="30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BOOT(JAVA)</a:t>
            </a:r>
            <a:endParaRPr lang="en-US" sz="30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endParaRPr>
          </a:p>
        </p:txBody>
      </p:sp>
      <p:sp>
        <p:nvSpPr>
          <p:cNvPr id="55" name="TextBox 55"/>
          <p:cNvSpPr txBox="1"/>
          <p:nvPr/>
        </p:nvSpPr>
        <p:spPr>
          <a:xfrm>
            <a:off x="13046017" y="4086395"/>
            <a:ext cx="7537143" cy="705485"/>
          </a:xfrm>
          <a:prstGeom prst="rect">
            <a:avLst/>
          </a:prstGeom>
        </p:spPr>
        <p:txBody>
          <a:bodyPr lIns="0" tIns="0" rIns="0" bIns="0" rtlCol="0" anchor="t">
            <a:spAutoFit/>
          </a:bodyPr>
          <a:lstStyle/>
          <a:p>
            <a:pPr algn="ctr">
              <a:lnSpc>
                <a:spcPts val="5740"/>
              </a:lnSpc>
            </a:pPr>
            <a:r>
              <a:rPr lang="en-US" sz="41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AI</a:t>
            </a:r>
            <a:endParaRPr lang="en-US" sz="41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endParaRPr>
          </a:p>
        </p:txBody>
      </p:sp>
      <p:sp>
        <p:nvSpPr>
          <p:cNvPr id="56" name="AutoShape 56"/>
          <p:cNvSpPr/>
          <p:nvPr/>
        </p:nvSpPr>
        <p:spPr>
          <a:xfrm>
            <a:off x="11001057" y="4870800"/>
            <a:ext cx="1615544" cy="0"/>
          </a:xfrm>
          <a:prstGeom prst="line">
            <a:avLst/>
          </a:prstGeom>
          <a:ln w="38100" cap="flat">
            <a:solidFill>
              <a:srgbClr val="000000"/>
            </a:solidFill>
            <a:prstDash val="solid"/>
            <a:headEnd type="none" w="sm" len="sm"/>
            <a:tailEnd type="triangle" w="lg" len="med"/>
          </a:ln>
        </p:spPr>
      </p:sp>
      <p:sp>
        <p:nvSpPr>
          <p:cNvPr id="57" name="TextBox 57"/>
          <p:cNvSpPr txBox="1"/>
          <p:nvPr/>
        </p:nvSpPr>
        <p:spPr>
          <a:xfrm>
            <a:off x="11594168" y="8470219"/>
            <a:ext cx="7537143" cy="580389"/>
          </a:xfrm>
          <a:prstGeom prst="rect">
            <a:avLst/>
          </a:prstGeom>
        </p:spPr>
        <p:txBody>
          <a:bodyPr lIns="0" tIns="0" rIns="0" bIns="0" rtlCol="0" anchor="t">
            <a:spAutoFit/>
          </a:bodyPr>
          <a:lstStyle/>
          <a:p>
            <a:pPr algn="ctr">
              <a:lnSpc>
                <a:spcPts val="4760"/>
              </a:lnSpc>
            </a:pPr>
            <a:r>
              <a:rPr lang="en-US" sz="34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rPr>
              <a:t>DATABASE</a:t>
            </a:r>
            <a:endParaRPr lang="en-US" sz="3400" b="1">
              <a:solidFill>
                <a:srgbClr val="000000"/>
              </a:solidFill>
              <a:latin typeface="Monterchi Serif Bold" panose="02000503060000020004"/>
              <a:ea typeface="Monterchi Serif Bold" panose="02000503060000020004"/>
              <a:cs typeface="Monterchi Serif Bold" panose="02000503060000020004"/>
              <a:sym typeface="Monterchi Serif Bold" panose="0200050306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grpSp>
        <p:nvGrpSpPr>
          <p:cNvPr id="3" name="Group 3"/>
          <p:cNvGrpSpPr/>
          <p:nvPr/>
        </p:nvGrpSpPr>
        <p:grpSpPr>
          <a:xfrm>
            <a:off x="0" y="1071386"/>
            <a:ext cx="1046064" cy="1205687"/>
            <a:chOff x="0" y="0"/>
            <a:chExt cx="1394752" cy="1607583"/>
          </a:xfrm>
        </p:grpSpPr>
        <p:sp>
          <p:nvSpPr>
            <p:cNvPr id="4" name="Freeform 4"/>
            <p:cNvSpPr/>
            <p:nvPr/>
          </p:nvSpPr>
          <p:spPr>
            <a:xfrm>
              <a:off x="0" y="0"/>
              <a:ext cx="1394714" cy="1607566"/>
            </a:xfrm>
            <a:custGeom>
              <a:avLst/>
              <a:gdLst/>
              <a:ahLst/>
              <a:cxnLst/>
              <a:rect l="l" t="t" r="r" b="b"/>
              <a:pathLst>
                <a:path w="1394714" h="1607566">
                  <a:moveTo>
                    <a:pt x="1394714" y="1607566"/>
                  </a:moveTo>
                  <a:lnTo>
                    <a:pt x="0" y="1607566"/>
                  </a:lnTo>
                  <a:lnTo>
                    <a:pt x="0" y="0"/>
                  </a:lnTo>
                  <a:lnTo>
                    <a:pt x="1394714" y="1607566"/>
                  </a:lnTo>
                  <a:close/>
                </a:path>
              </a:pathLst>
            </a:custGeom>
            <a:solidFill>
              <a:srgbClr val="D966F4"/>
            </a:solidFill>
          </p:spPr>
        </p:sp>
      </p:grpSp>
      <p:grpSp>
        <p:nvGrpSpPr>
          <p:cNvPr id="5" name="Group 5"/>
          <p:cNvGrpSpPr/>
          <p:nvPr/>
        </p:nvGrpSpPr>
        <p:grpSpPr>
          <a:xfrm>
            <a:off x="-27039" y="0"/>
            <a:ext cx="1073103" cy="1071386"/>
            <a:chOff x="0" y="0"/>
            <a:chExt cx="1430804" cy="1428515"/>
          </a:xfrm>
        </p:grpSpPr>
        <p:sp>
          <p:nvSpPr>
            <p:cNvPr id="6" name="Freeform 6"/>
            <p:cNvSpPr/>
            <p:nvPr/>
          </p:nvSpPr>
          <p:spPr>
            <a:xfrm>
              <a:off x="0" y="0"/>
              <a:ext cx="1430782" cy="1428496"/>
            </a:xfrm>
            <a:custGeom>
              <a:avLst/>
              <a:gdLst/>
              <a:ahLst/>
              <a:cxnLst/>
              <a:rect l="l" t="t" r="r" b="b"/>
              <a:pathLst>
                <a:path w="1430782" h="1428496">
                  <a:moveTo>
                    <a:pt x="1430782" y="1428496"/>
                  </a:moveTo>
                  <a:lnTo>
                    <a:pt x="0" y="1428496"/>
                  </a:lnTo>
                  <a:lnTo>
                    <a:pt x="0" y="0"/>
                  </a:lnTo>
                  <a:lnTo>
                    <a:pt x="1430782" y="1428496"/>
                  </a:lnTo>
                  <a:close/>
                </a:path>
              </a:pathLst>
            </a:custGeom>
            <a:solidFill>
              <a:srgbClr val="B96BE9"/>
            </a:solidFill>
          </p:spPr>
        </p:sp>
      </p:grpSp>
      <p:sp>
        <p:nvSpPr>
          <p:cNvPr id="7" name="Freeform 7"/>
          <p:cNvSpPr/>
          <p:nvPr/>
        </p:nvSpPr>
        <p:spPr>
          <a:xfrm>
            <a:off x="16622635" y="9486344"/>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6622635" y="8685688"/>
            <a:ext cx="1665365" cy="800656"/>
          </a:xfrm>
          <a:custGeom>
            <a:avLst/>
            <a:gdLst/>
            <a:ahLst/>
            <a:cxnLst/>
            <a:rect l="l" t="t" r="r" b="b"/>
            <a:pathLst>
              <a:path w="1665365" h="800656">
                <a:moveTo>
                  <a:pt x="0" y="0"/>
                </a:moveTo>
                <a:lnTo>
                  <a:pt x="1665365" y="0"/>
                </a:lnTo>
                <a:lnTo>
                  <a:pt x="1665365" y="800656"/>
                </a:lnTo>
                <a:lnTo>
                  <a:pt x="0" y="8006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752600" y="547107"/>
            <a:ext cx="13759307" cy="712470"/>
          </a:xfrm>
          <a:prstGeom prst="rect">
            <a:avLst/>
          </a:prstGeom>
        </p:spPr>
        <p:txBody>
          <a:bodyPr lIns="0" tIns="0" rIns="0" bIns="0" rtlCol="0" anchor="t">
            <a:spAutoFit/>
          </a:bodyPr>
          <a:lstStyle/>
          <a:p>
            <a:pPr algn="ctr">
              <a:lnSpc>
                <a:spcPts val="5880"/>
              </a:lnSpc>
            </a:pPr>
            <a:r>
              <a:rPr lang="en-US" sz="4200" dirty="0">
                <a:solidFill>
                  <a:srgbClr val="7C33BA"/>
                </a:solidFill>
                <a:latin typeface="Monterchi Serif" panose="02000503060000020004"/>
                <a:ea typeface="Monterchi Serif" panose="02000503060000020004"/>
                <a:cs typeface="Monterchi Serif" panose="02000503060000020004"/>
                <a:sym typeface="Monterchi Serif" panose="02000503060000020004"/>
              </a:rPr>
              <a:t>BUSINESS SCOPE &amp; IMPACT</a:t>
            </a:r>
            <a:endParaRPr lang="en-US" sz="4200" dirty="0">
              <a:solidFill>
                <a:srgbClr val="7C33BA"/>
              </a:solidFill>
              <a:latin typeface="Monterchi Serif" panose="02000503060000020004"/>
              <a:ea typeface="Monterchi Serif" panose="02000503060000020004"/>
              <a:cs typeface="Monterchi Serif" panose="02000503060000020004"/>
              <a:sym typeface="Monterchi Serif" panose="02000503060000020004"/>
            </a:endParaRPr>
          </a:p>
        </p:txBody>
      </p:sp>
      <p:grpSp>
        <p:nvGrpSpPr>
          <p:cNvPr id="10" name="Group 10"/>
          <p:cNvGrpSpPr/>
          <p:nvPr/>
        </p:nvGrpSpPr>
        <p:grpSpPr>
          <a:xfrm>
            <a:off x="16265608" y="0"/>
            <a:ext cx="2022392" cy="1814077"/>
            <a:chOff x="0" y="0"/>
            <a:chExt cx="2696523" cy="2418769"/>
          </a:xfrm>
        </p:grpSpPr>
        <p:sp>
          <p:nvSpPr>
            <p:cNvPr id="11" name="Freeform 11"/>
            <p:cNvSpPr/>
            <p:nvPr/>
          </p:nvSpPr>
          <p:spPr>
            <a:xfrm>
              <a:off x="0" y="0"/>
              <a:ext cx="2696464" cy="2418715"/>
            </a:xfrm>
            <a:custGeom>
              <a:avLst/>
              <a:gdLst/>
              <a:ahLst/>
              <a:cxnLst/>
              <a:rect l="l" t="t" r="r" b="b"/>
              <a:pathLst>
                <a:path w="2696464" h="2418715">
                  <a:moveTo>
                    <a:pt x="0" y="0"/>
                  </a:moveTo>
                  <a:lnTo>
                    <a:pt x="2696464" y="0"/>
                  </a:lnTo>
                  <a:lnTo>
                    <a:pt x="2696464" y="2418715"/>
                  </a:lnTo>
                  <a:lnTo>
                    <a:pt x="0" y="2418715"/>
                  </a:lnTo>
                  <a:lnTo>
                    <a:pt x="0" y="0"/>
                  </a:lnTo>
                  <a:close/>
                </a:path>
              </a:pathLst>
            </a:custGeom>
            <a:blipFill>
              <a:blip r:embed="rId7"/>
              <a:stretch>
                <a:fillRect r="-2" b="-2"/>
              </a:stretch>
            </a:blipFill>
          </p:spPr>
        </p:sp>
      </p:grpSp>
      <p:sp>
        <p:nvSpPr>
          <p:cNvPr id="12" name="Freeform 12"/>
          <p:cNvSpPr/>
          <p:nvPr/>
        </p:nvSpPr>
        <p:spPr>
          <a:xfrm>
            <a:off x="525780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sp>
        <p:nvSpPr>
          <p:cNvPr id="13" name="Freeform 13"/>
          <p:cNvSpPr/>
          <p:nvPr/>
        </p:nvSpPr>
        <p:spPr>
          <a:xfrm>
            <a:off x="10591800" y="9296400"/>
            <a:ext cx="4920107" cy="990600"/>
          </a:xfrm>
          <a:custGeom>
            <a:avLst/>
            <a:gdLst/>
            <a:ahLst/>
            <a:cxnLst/>
            <a:rect l="l" t="t" r="r" b="b"/>
            <a:pathLst>
              <a:path w="4920107" h="990600">
                <a:moveTo>
                  <a:pt x="0" y="0"/>
                </a:moveTo>
                <a:lnTo>
                  <a:pt x="4920107" y="0"/>
                </a:lnTo>
                <a:lnTo>
                  <a:pt x="4920107" y="990600"/>
                </a:lnTo>
                <a:lnTo>
                  <a:pt x="0" y="990600"/>
                </a:lnTo>
                <a:lnTo>
                  <a:pt x="0" y="0"/>
                </a:lnTo>
                <a:close/>
              </a:path>
            </a:pathLst>
          </a:custGeom>
          <a:blipFill>
            <a:blip r:embed="rId1">
              <a:extLst>
                <a:ext uri="{96DAC541-7B7A-43D3-8B79-37D633B846F1}">
                  <asvg:svgBlip xmlns:asvg="http://schemas.microsoft.com/office/drawing/2016/SVG/main" r:embed="rId2"/>
                </a:ext>
              </a:extLst>
            </a:blip>
            <a:stretch>
              <a:fillRect t="-198339" b="-198339"/>
            </a:stretch>
          </a:blipFill>
        </p:spPr>
      </p:sp>
      <p:sp>
        <p:nvSpPr>
          <p:cNvPr id="17" name="TextBox 16"/>
          <p:cNvSpPr txBox="1"/>
          <p:nvPr/>
        </p:nvSpPr>
        <p:spPr>
          <a:xfrm>
            <a:off x="1670538" y="1426612"/>
            <a:ext cx="14859000" cy="1877437"/>
          </a:xfrm>
          <a:prstGeom prst="rect">
            <a:avLst/>
          </a:prstGeom>
          <a:noFill/>
        </p:spPr>
        <p:txBody>
          <a:bodyPr wrap="square" rtlCol="0">
            <a:spAutoFit/>
          </a:bodyPr>
          <a:lstStyle/>
          <a:p>
            <a:r>
              <a:rPr lang="en-US" sz="2900" dirty="0">
                <a:latin typeface="Monterchi Serif" panose="02000503060000020004" charset="0"/>
              </a:rPr>
              <a:t>Our business model uses a freemium approach to attract a wide range of users, demonstrating the core value of AI-powered context summarization. Revenue is generated by offering progressively powerful AI features and collaboration tools suitable for the needs of individuals and organizations as they grow.</a:t>
            </a:r>
            <a:endParaRPr lang="en-US" sz="2900" dirty="0">
              <a:latin typeface="Monterchi Serif" panose="02000503060000020004" charset="0"/>
            </a:endParaRPr>
          </a:p>
        </p:txBody>
      </p:sp>
      <p:sp>
        <p:nvSpPr>
          <p:cNvPr id="18" name="Rectangle: Rounded Corners 17"/>
          <p:cNvSpPr/>
          <p:nvPr/>
        </p:nvSpPr>
        <p:spPr>
          <a:xfrm>
            <a:off x="1485245" y="3271811"/>
            <a:ext cx="14020800" cy="3882785"/>
          </a:xfrm>
          <a:prstGeom prst="roundRect">
            <a:avLst/>
          </a:prstGeom>
          <a:solidFill>
            <a:srgbClr val="EBB1F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2" name="Straight Connector 21"/>
          <p:cNvCxnSpPr/>
          <p:nvPr/>
        </p:nvCxnSpPr>
        <p:spPr>
          <a:xfrm>
            <a:off x="4495800" y="3417168"/>
            <a:ext cx="0" cy="3515851"/>
          </a:xfrm>
          <a:prstGeom prst="line">
            <a:avLst/>
          </a:prstGeom>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2528600" y="3670977"/>
            <a:ext cx="914400" cy="584775"/>
          </a:xfrm>
          <a:prstGeom prst="rect">
            <a:avLst/>
          </a:prstGeom>
          <a:noFill/>
        </p:spPr>
        <p:txBody>
          <a:bodyPr wrap="square" rtlCol="0">
            <a:spAutoFit/>
          </a:bodyPr>
          <a:lstStyle/>
          <a:p>
            <a:r>
              <a:rPr lang="en-IN" sz="3200" dirty="0">
                <a:latin typeface="Monterchi Serif" panose="02000503060000020004" charset="0"/>
              </a:rPr>
              <a:t>Free</a:t>
            </a:r>
            <a:endParaRPr lang="en-IN" sz="3200" dirty="0">
              <a:latin typeface="Monterchi Serif" panose="02000503060000020004" charset="0"/>
            </a:endParaRPr>
          </a:p>
        </p:txBody>
      </p:sp>
      <p:sp>
        <p:nvSpPr>
          <p:cNvPr id="27" name="TextBox 26"/>
          <p:cNvSpPr txBox="1"/>
          <p:nvPr/>
        </p:nvSpPr>
        <p:spPr>
          <a:xfrm>
            <a:off x="2546185" y="5053321"/>
            <a:ext cx="914400" cy="584775"/>
          </a:xfrm>
          <a:prstGeom prst="rect">
            <a:avLst/>
          </a:prstGeom>
          <a:noFill/>
        </p:spPr>
        <p:txBody>
          <a:bodyPr wrap="square" rtlCol="0">
            <a:spAutoFit/>
          </a:bodyPr>
          <a:lstStyle/>
          <a:p>
            <a:r>
              <a:rPr lang="en-IN" sz="3200" dirty="0">
                <a:latin typeface="Monterchi Serif" panose="02000503060000020004" charset="0"/>
              </a:rPr>
              <a:t>Pro</a:t>
            </a:r>
            <a:endParaRPr lang="en-IN" sz="3200" dirty="0">
              <a:latin typeface="Monterchi Serif" panose="02000503060000020004" charset="0"/>
            </a:endParaRPr>
          </a:p>
        </p:txBody>
      </p:sp>
      <p:sp>
        <p:nvSpPr>
          <p:cNvPr id="28" name="TextBox 27"/>
          <p:cNvSpPr txBox="1"/>
          <p:nvPr/>
        </p:nvSpPr>
        <p:spPr>
          <a:xfrm>
            <a:off x="2166979" y="6204832"/>
            <a:ext cx="1617781" cy="523220"/>
          </a:xfrm>
          <a:prstGeom prst="rect">
            <a:avLst/>
          </a:prstGeom>
          <a:noFill/>
        </p:spPr>
        <p:txBody>
          <a:bodyPr wrap="square" rtlCol="0">
            <a:spAutoFit/>
          </a:bodyPr>
          <a:lstStyle/>
          <a:p>
            <a:r>
              <a:rPr lang="en-IN" sz="2800" dirty="0">
                <a:latin typeface="Monterchi Serif" panose="02000503060000020004" charset="0"/>
              </a:rPr>
              <a:t>Enterprise</a:t>
            </a:r>
            <a:endParaRPr lang="en-IN" sz="2800" dirty="0">
              <a:latin typeface="Monterchi Serif" panose="02000503060000020004" charset="0"/>
            </a:endParaRPr>
          </a:p>
        </p:txBody>
      </p:sp>
      <p:cxnSp>
        <p:nvCxnSpPr>
          <p:cNvPr id="30" name="Straight Connector 29"/>
          <p:cNvCxnSpPr/>
          <p:nvPr/>
        </p:nvCxnSpPr>
        <p:spPr>
          <a:xfrm>
            <a:off x="1905000" y="4610100"/>
            <a:ext cx="2362200" cy="0"/>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4920107" y="4610100"/>
            <a:ext cx="10167493" cy="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905000" y="5829300"/>
            <a:ext cx="2362200"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a:off x="4920107" y="5829300"/>
            <a:ext cx="10167493" cy="0"/>
          </a:xfrm>
          <a:prstGeom prst="line">
            <a:avLst/>
          </a:prstGeom>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4920107" y="3670977"/>
            <a:ext cx="9880756" cy="861774"/>
          </a:xfrm>
          <a:prstGeom prst="rect">
            <a:avLst/>
          </a:prstGeom>
          <a:noFill/>
        </p:spPr>
        <p:txBody>
          <a:bodyPr wrap="square" rtlCol="0">
            <a:spAutoFit/>
          </a:bodyPr>
          <a:lstStyle/>
          <a:p>
            <a:r>
              <a:rPr lang="en-IN" sz="2500" dirty="0">
                <a:latin typeface="Monterchi Serif" panose="02000503060000020004" charset="0"/>
              </a:rPr>
              <a:t>Basic chat feature, on demand AI summarizations with limited usage and limited task extraction</a:t>
            </a:r>
            <a:r>
              <a:rPr lang="en-IN" sz="2400" dirty="0">
                <a:latin typeface="Monterchi Serif" panose="02000503060000020004" charset="0"/>
              </a:rPr>
              <a:t>.</a:t>
            </a:r>
            <a:endParaRPr lang="en-IN" sz="2400" dirty="0">
              <a:latin typeface="Monterchi Serif" panose="02000503060000020004" charset="0"/>
            </a:endParaRPr>
          </a:p>
        </p:txBody>
      </p:sp>
      <p:sp>
        <p:nvSpPr>
          <p:cNvPr id="39" name="TextBox 38"/>
          <p:cNvSpPr txBox="1"/>
          <p:nvPr/>
        </p:nvSpPr>
        <p:spPr>
          <a:xfrm>
            <a:off x="4884938" y="4791711"/>
            <a:ext cx="9845584" cy="861774"/>
          </a:xfrm>
          <a:prstGeom prst="rect">
            <a:avLst/>
          </a:prstGeom>
          <a:noFill/>
        </p:spPr>
        <p:txBody>
          <a:bodyPr wrap="square" rtlCol="0">
            <a:spAutoFit/>
          </a:bodyPr>
          <a:lstStyle/>
          <a:p>
            <a:r>
              <a:rPr lang="en-IN" sz="2500" dirty="0">
                <a:latin typeface="Monterchi Serif" panose="02000503060000020004" charset="0"/>
              </a:rPr>
              <a:t>Expanded AI usage with longer history summaries and more frequent access, potentially with advanced prompt options.</a:t>
            </a:r>
            <a:endParaRPr lang="en-IN" sz="2500" dirty="0">
              <a:latin typeface="Monterchi Serif" panose="02000503060000020004" charset="0"/>
            </a:endParaRPr>
          </a:p>
        </p:txBody>
      </p:sp>
      <p:sp>
        <p:nvSpPr>
          <p:cNvPr id="40" name="TextBox 39"/>
          <p:cNvSpPr txBox="1"/>
          <p:nvPr/>
        </p:nvSpPr>
        <p:spPr>
          <a:xfrm>
            <a:off x="4920106" y="6035893"/>
            <a:ext cx="10167491" cy="861774"/>
          </a:xfrm>
          <a:prstGeom prst="rect">
            <a:avLst/>
          </a:prstGeom>
          <a:noFill/>
        </p:spPr>
        <p:txBody>
          <a:bodyPr wrap="square" rtlCol="0">
            <a:spAutoFit/>
          </a:bodyPr>
          <a:lstStyle/>
          <a:p>
            <a:r>
              <a:rPr lang="en-IN" sz="2500" dirty="0">
                <a:latin typeface="Monterchi Serif" panose="02000503060000020004" charset="0"/>
              </a:rPr>
              <a:t>Unlimited AI features with large room support and custom AI models on organizational conversation patterns, advanced admin controls</a:t>
            </a:r>
            <a:endParaRPr lang="en-IN" sz="2500" dirty="0">
              <a:latin typeface="Monterchi Serif" panose="02000503060000020004" charset="0"/>
            </a:endParaRPr>
          </a:p>
        </p:txBody>
      </p:sp>
      <p:sp>
        <p:nvSpPr>
          <p:cNvPr id="42" name="TextBox 41"/>
          <p:cNvSpPr txBox="1"/>
          <p:nvPr/>
        </p:nvSpPr>
        <p:spPr>
          <a:xfrm>
            <a:off x="1621853" y="7155872"/>
            <a:ext cx="14020800" cy="1754326"/>
          </a:xfrm>
          <a:prstGeom prst="rect">
            <a:avLst/>
          </a:prstGeom>
          <a:noFill/>
        </p:spPr>
        <p:txBody>
          <a:bodyPr wrap="square" rtlCol="0">
            <a:spAutoFit/>
          </a:bodyPr>
          <a:lstStyle/>
          <a:p>
            <a:endParaRPr lang="en-IN" sz="2700" dirty="0">
              <a:latin typeface="Monterchi Serif" panose="02000503060000020004" charset="0"/>
            </a:endParaRPr>
          </a:p>
          <a:p>
            <a:r>
              <a:rPr lang="en-IN" sz="2700" dirty="0">
                <a:latin typeface="Monterchi Serif" panose="02000503060000020004" charset="0"/>
              </a:rPr>
              <a:t>   The core impact is to reclaim the significant user’s time currently wasted scrolling through messages or asking their colleagues for information by providing instant AI generated context(like summaries, extracted tasks etc) allowing the users to stay informed thus increasing the efficiency.</a:t>
            </a:r>
            <a:endParaRPr lang="en-IN" sz="2700" dirty="0">
              <a:latin typeface="Monterchi Serif" panose="020005030600000200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512683"/>
            <a:ext cx="18288000" cy="712511"/>
          </a:xfrm>
          <a:prstGeom prst="rect">
            <a:avLst/>
          </a:prstGeom>
        </p:spPr>
        <p:txBody>
          <a:bodyPr lIns="0" tIns="0" rIns="0" bIns="0" rtlCol="0" anchor="t">
            <a:spAutoFit/>
          </a:bodyPr>
          <a:lstStyle/>
          <a:p>
            <a:pPr marL="0" lvl="0" indent="0" algn="ctr">
              <a:lnSpc>
                <a:spcPts val="5880"/>
              </a:lnSpc>
              <a:spcBef>
                <a:spcPct val="0"/>
              </a:spcBef>
            </a:pPr>
            <a:r>
              <a:rPr lang="en-US" sz="4200">
                <a:solidFill>
                  <a:srgbClr val="000000"/>
                </a:solidFill>
                <a:latin typeface="Press Start 2P" panose="00000500000000000000"/>
                <a:ea typeface="Press Start 2P" panose="00000500000000000000"/>
                <a:cs typeface="Press Start 2P" panose="00000500000000000000"/>
                <a:sym typeface="Press Start 2P" panose="00000500000000000000"/>
              </a:rPr>
              <a:t>Challenges &amp; Future Scope</a:t>
            </a:r>
            <a:endParaRPr lang="en-US" sz="4200">
              <a:solidFill>
                <a:srgbClr val="000000"/>
              </a:solidFill>
              <a:latin typeface="Press Start 2P" panose="00000500000000000000"/>
              <a:ea typeface="Press Start 2P" panose="00000500000000000000"/>
              <a:cs typeface="Press Start 2P" panose="00000500000000000000"/>
              <a:sym typeface="Press Start 2P" panose="00000500000000000000"/>
            </a:endParaRPr>
          </a:p>
        </p:txBody>
      </p:sp>
      <p:sp>
        <p:nvSpPr>
          <p:cNvPr id="3" name="Freeform 3"/>
          <p:cNvSpPr/>
          <p:nvPr/>
        </p:nvSpPr>
        <p:spPr>
          <a:xfrm rot="-5400000">
            <a:off x="-4648200" y="4648200"/>
            <a:ext cx="10287000" cy="990600"/>
          </a:xfrm>
          <a:custGeom>
            <a:avLst/>
            <a:gdLst/>
            <a:ahLst/>
            <a:cxnLst/>
            <a:rect l="l" t="t" r="r" b="b"/>
            <a:pathLst>
              <a:path w="10287000" h="3852949">
                <a:moveTo>
                  <a:pt x="0" y="0"/>
                </a:moveTo>
                <a:lnTo>
                  <a:pt x="10287000" y="0"/>
                </a:lnTo>
                <a:lnTo>
                  <a:pt x="10287000" y="3852950"/>
                </a:lnTo>
                <a:lnTo>
                  <a:pt x="0" y="38529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16265608" y="0"/>
            <a:ext cx="2022392" cy="1814077"/>
          </a:xfrm>
          <a:custGeom>
            <a:avLst/>
            <a:gdLst/>
            <a:ahLst/>
            <a:cxnLst/>
            <a:rect l="l" t="t" r="r" b="b"/>
            <a:pathLst>
              <a:path w="2022392" h="1814077">
                <a:moveTo>
                  <a:pt x="0" y="0"/>
                </a:moveTo>
                <a:lnTo>
                  <a:pt x="2022392" y="0"/>
                </a:lnTo>
                <a:lnTo>
                  <a:pt x="2022392" y="1814077"/>
                </a:lnTo>
                <a:lnTo>
                  <a:pt x="0" y="1814077"/>
                </a:lnTo>
                <a:lnTo>
                  <a:pt x="0" y="0"/>
                </a:lnTo>
                <a:close/>
              </a:path>
            </a:pathLst>
          </a:custGeom>
          <a:blipFill>
            <a:blip r:embed="rId3"/>
            <a:stretch>
              <a:fillRect/>
            </a:stretch>
          </a:blipFill>
        </p:spPr>
      </p:sp>
      <p:sp>
        <p:nvSpPr>
          <p:cNvPr id="6" name="TextBox 5"/>
          <p:cNvSpPr txBox="1"/>
          <p:nvPr/>
        </p:nvSpPr>
        <p:spPr>
          <a:xfrm>
            <a:off x="6362700" y="4751085"/>
            <a:ext cx="5562600" cy="784830"/>
          </a:xfrm>
          <a:prstGeom prst="rect">
            <a:avLst/>
          </a:prstGeom>
          <a:noFill/>
        </p:spPr>
        <p:txBody>
          <a:bodyPr wrap="square">
            <a:spAutoFit/>
          </a:bodyPr>
          <a:lstStyle/>
          <a:p>
            <a:pPr marL="0" lvl="0" indent="0" algn="l">
              <a:lnSpc>
                <a:spcPts val="5380"/>
              </a:lnSpc>
            </a:pPr>
            <a:r>
              <a:rPr lang="en-US" sz="4000" dirty="0">
                <a:solidFill>
                  <a:srgbClr val="140C16"/>
                </a:solidFill>
                <a:latin typeface="Monterchi Serif" panose="02000503060000020004"/>
                <a:ea typeface="Monterchi Serif" panose="02000503060000020004"/>
                <a:cs typeface="Monterchi Serif" panose="02000503060000020004"/>
                <a:sym typeface="Monterchi Serif" panose="02000503060000020004"/>
              </a:rPr>
              <a:t>YOUR CONTENT HERE</a:t>
            </a:r>
            <a:endParaRPr lang="en-US" sz="4000" dirty="0">
              <a:solidFill>
                <a:srgbClr val="140C16"/>
              </a:solidFill>
              <a:latin typeface="Monterchi Serif" panose="02000503060000020004"/>
              <a:ea typeface="Monterchi Serif" panose="02000503060000020004"/>
              <a:cs typeface="Monterchi Serif" panose="02000503060000020004"/>
              <a:sym typeface="Monterchi Serif" panose="0200050306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2382602" y="7013829"/>
            <a:ext cx="5905398" cy="3273171"/>
          </a:xfrm>
          <a:custGeom>
            <a:avLst/>
            <a:gdLst/>
            <a:ahLst/>
            <a:cxnLst/>
            <a:rect l="l" t="t" r="r" b="b"/>
            <a:pathLst>
              <a:path w="5905398" h="3273171">
                <a:moveTo>
                  <a:pt x="0" y="0"/>
                </a:moveTo>
                <a:lnTo>
                  <a:pt x="5905398" y="0"/>
                </a:lnTo>
                <a:lnTo>
                  <a:pt x="5905398" y="3273171"/>
                </a:lnTo>
                <a:lnTo>
                  <a:pt x="0" y="3273171"/>
                </a:lnTo>
                <a:lnTo>
                  <a:pt x="0" y="0"/>
                </a:lnTo>
                <a:close/>
              </a:path>
            </a:pathLst>
          </a:custGeom>
          <a:blipFill>
            <a:blip r:embed="rId1">
              <a:extLst>
                <a:ext uri="{96DAC541-7B7A-43D3-8B79-37D633B846F1}">
                  <asvg:svgBlip xmlns:asvg="http://schemas.microsoft.com/office/drawing/2016/SVG/main" r:embed="rId2"/>
                </a:ext>
              </a:extLst>
            </a:blip>
            <a:stretch>
              <a:fillRect t="-51" b="-51"/>
            </a:stretch>
          </a:blipFill>
        </p:spPr>
      </p:sp>
      <p:sp>
        <p:nvSpPr>
          <p:cNvPr id="3" name="Freeform 3"/>
          <p:cNvSpPr/>
          <p:nvPr/>
        </p:nvSpPr>
        <p:spPr>
          <a:xfrm rot="-10800000" flipH="1">
            <a:off x="0" y="6708240"/>
            <a:ext cx="6446160" cy="3572898"/>
          </a:xfrm>
          <a:custGeom>
            <a:avLst/>
            <a:gdLst/>
            <a:ahLst/>
            <a:cxnLst/>
            <a:rect l="l" t="t" r="r" b="b"/>
            <a:pathLst>
              <a:path w="6446160" h="3572898">
                <a:moveTo>
                  <a:pt x="6446160" y="0"/>
                </a:moveTo>
                <a:lnTo>
                  <a:pt x="0" y="0"/>
                </a:lnTo>
                <a:lnTo>
                  <a:pt x="0" y="3572898"/>
                </a:lnTo>
                <a:lnTo>
                  <a:pt x="6446160" y="3572898"/>
                </a:lnTo>
                <a:lnTo>
                  <a:pt x="6446160" y="0"/>
                </a:lnTo>
                <a:close/>
              </a:path>
            </a:pathLst>
          </a:custGeom>
          <a:blipFill>
            <a:blip r:embed="rId1">
              <a:extLst>
                <a:ext uri="{96DAC541-7B7A-43D3-8B79-37D633B846F1}">
                  <asvg:svgBlip xmlns:asvg="http://schemas.microsoft.com/office/drawing/2016/SVG/main" r:embed="rId2"/>
                </a:ext>
              </a:extLst>
            </a:blip>
            <a:stretch>
              <a:fillRect t="-101" b="-101"/>
            </a:stretch>
          </a:blipFill>
        </p:spPr>
      </p:sp>
      <p:sp>
        <p:nvSpPr>
          <p:cNvPr id="4" name="Freeform 4"/>
          <p:cNvSpPr/>
          <p:nvPr/>
        </p:nvSpPr>
        <p:spPr>
          <a:xfrm>
            <a:off x="1805748" y="3672268"/>
            <a:ext cx="664870" cy="664870"/>
          </a:xfrm>
          <a:custGeom>
            <a:avLst/>
            <a:gdLst/>
            <a:ahLst/>
            <a:cxnLst/>
            <a:rect l="l" t="t" r="r" b="b"/>
            <a:pathLst>
              <a:path w="664870" h="664870">
                <a:moveTo>
                  <a:pt x="0" y="0"/>
                </a:moveTo>
                <a:lnTo>
                  <a:pt x="664871" y="0"/>
                </a:lnTo>
                <a:lnTo>
                  <a:pt x="664871" y="664871"/>
                </a:lnTo>
                <a:lnTo>
                  <a:pt x="0" y="6648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131609" y="3672268"/>
            <a:ext cx="664870" cy="664870"/>
          </a:xfrm>
          <a:custGeom>
            <a:avLst/>
            <a:gdLst/>
            <a:ahLst/>
            <a:cxnLst/>
            <a:rect l="l" t="t" r="r" b="b"/>
            <a:pathLst>
              <a:path w="664870" h="664870">
                <a:moveTo>
                  <a:pt x="0" y="0"/>
                </a:moveTo>
                <a:lnTo>
                  <a:pt x="664871" y="0"/>
                </a:lnTo>
                <a:lnTo>
                  <a:pt x="664871" y="664871"/>
                </a:lnTo>
                <a:lnTo>
                  <a:pt x="0" y="6648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804228" y="3275019"/>
            <a:ext cx="14813605" cy="1202004"/>
          </a:xfrm>
          <a:prstGeom prst="rect">
            <a:avLst/>
          </a:prstGeom>
        </p:spPr>
        <p:txBody>
          <a:bodyPr lIns="0" tIns="0" rIns="0" bIns="0" rtlCol="0" anchor="t">
            <a:spAutoFit/>
          </a:bodyPr>
          <a:lstStyle/>
          <a:p>
            <a:pPr algn="ctr">
              <a:lnSpc>
                <a:spcPts val="9875"/>
              </a:lnSpc>
            </a:pPr>
            <a:r>
              <a:rPr lang="en-US" sz="7055">
                <a:solidFill>
                  <a:srgbClr val="7C33BA"/>
                </a:solidFill>
                <a:latin typeface="Monterchi Serif" panose="02000503060000020004"/>
                <a:ea typeface="Monterchi Serif" panose="02000503060000020004"/>
                <a:cs typeface="Monterchi Serif" panose="02000503060000020004"/>
                <a:sym typeface="Monterchi Serif" panose="02000503060000020004"/>
              </a:rPr>
              <a:t>THANK YOU</a:t>
            </a:r>
            <a:endParaRPr lang="en-US" sz="7055">
              <a:solidFill>
                <a:srgbClr val="7C33BA"/>
              </a:solidFill>
              <a:latin typeface="Monterchi Serif" panose="02000503060000020004"/>
              <a:ea typeface="Monterchi Serif" panose="02000503060000020004"/>
              <a:cs typeface="Monterchi Serif" panose="02000503060000020004"/>
              <a:sym typeface="Monterchi Serif" panose="02000503060000020004"/>
            </a:endParaRPr>
          </a:p>
        </p:txBody>
      </p:sp>
      <p:sp>
        <p:nvSpPr>
          <p:cNvPr id="7" name="Freeform 7"/>
          <p:cNvSpPr/>
          <p:nvPr/>
        </p:nvSpPr>
        <p:spPr>
          <a:xfrm>
            <a:off x="8250266" y="9089824"/>
            <a:ext cx="1921529" cy="192288"/>
          </a:xfrm>
          <a:custGeom>
            <a:avLst/>
            <a:gdLst/>
            <a:ahLst/>
            <a:cxnLst/>
            <a:rect l="l" t="t" r="r" b="b"/>
            <a:pathLst>
              <a:path w="1921529" h="192288">
                <a:moveTo>
                  <a:pt x="0" y="0"/>
                </a:moveTo>
                <a:lnTo>
                  <a:pt x="1921529" y="0"/>
                </a:lnTo>
                <a:lnTo>
                  <a:pt x="1921529" y="192288"/>
                </a:lnTo>
                <a:lnTo>
                  <a:pt x="0" y="1922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6878787" y="5229709"/>
            <a:ext cx="4530425" cy="4063772"/>
            <a:chOff x="0" y="0"/>
            <a:chExt cx="6040567" cy="5418363"/>
          </a:xfrm>
        </p:grpSpPr>
        <p:sp>
          <p:nvSpPr>
            <p:cNvPr id="9" name="Freeform 9"/>
            <p:cNvSpPr/>
            <p:nvPr/>
          </p:nvSpPr>
          <p:spPr>
            <a:xfrm>
              <a:off x="0" y="0"/>
              <a:ext cx="6040628" cy="5418328"/>
            </a:xfrm>
            <a:custGeom>
              <a:avLst/>
              <a:gdLst/>
              <a:ahLst/>
              <a:cxnLst/>
              <a:rect l="l" t="t" r="r" b="b"/>
              <a:pathLst>
                <a:path w="6040628" h="5418328">
                  <a:moveTo>
                    <a:pt x="0" y="0"/>
                  </a:moveTo>
                  <a:lnTo>
                    <a:pt x="6040628" y="0"/>
                  </a:lnTo>
                  <a:lnTo>
                    <a:pt x="6040628" y="5418328"/>
                  </a:lnTo>
                  <a:lnTo>
                    <a:pt x="0" y="5418328"/>
                  </a:lnTo>
                  <a:lnTo>
                    <a:pt x="0" y="0"/>
                  </a:lnTo>
                  <a:close/>
                </a:path>
              </a:pathLst>
            </a:custGeom>
            <a:blipFill>
              <a:blip r:embed="rId7"/>
              <a:stretch>
                <a:fillRect r="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2550</Words>
  <Application>WPS Presentation</Application>
  <PresentationFormat>Custom</PresentationFormat>
  <Paragraphs>93</Paragraphs>
  <Slides>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vt:i4>
      </vt:variant>
    </vt:vector>
  </HeadingPairs>
  <TitlesOfParts>
    <vt:vector size="22" baseType="lpstr">
      <vt:lpstr>Arial</vt:lpstr>
      <vt:lpstr>SimSun</vt:lpstr>
      <vt:lpstr>Wingdings</vt:lpstr>
      <vt:lpstr>Monterchi Serif</vt:lpstr>
      <vt:lpstr>Canva Sans Bold</vt:lpstr>
      <vt:lpstr>Monterchi Serif Bold</vt:lpstr>
      <vt:lpstr>Canva Sans</vt:lpstr>
      <vt:lpstr>Monterchi Serif</vt:lpstr>
      <vt:lpstr>The Youngest Serif</vt:lpstr>
      <vt:lpstr>Arial</vt:lpstr>
      <vt:lpstr>Microsoft YaHei</vt:lpstr>
      <vt:lpstr>Arial Unicode MS</vt:lpstr>
      <vt:lpstr>Calibri</vt:lpstr>
      <vt:lpstr>Press Start 2P</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ppttt.pptx</dc:title>
  <dc:creator>ajay phoenix</dc:creator>
  <cp:lastModifiedBy>yusuff shereef</cp:lastModifiedBy>
  <cp:revision>3</cp:revision>
  <dcterms:created xsi:type="dcterms:W3CDTF">2006-08-16T00:00:00Z</dcterms:created>
  <dcterms:modified xsi:type="dcterms:W3CDTF">2025-10-27T14:07:32Z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16F5B7ACAE774CE38D6E897B6A78EAE5_12</vt:lpwstr>
  </property>
  <property fmtid="{D5CDD505-2E9C-101B-9397-08002B2CF9AE}" pid="3" name="KSOProductBuildVer">
    <vt:lpwstr>2057-12.2.0.23149</vt:lpwstr>
  </property>
</Properties>
</file>